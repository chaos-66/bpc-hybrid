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s/slide18.xml" ContentType="application/vnd.openxmlformats-officedocument.presentationml.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19.xml" ContentType="application/vnd.openxmlformats-officedocument.presentationml.slide+xml"/>
  <Override PartName="/ppt/notesSlides/notesSlide11.xml" ContentType="application/vnd.openxmlformats-officedocument.presentationml.notes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2" r:id="rId3"/>
    <p:sldId id="273" r:id="rId5"/>
    <p:sldId id="274" r:id="rId6"/>
    <p:sldId id="302" r:id="rId7"/>
    <p:sldId id="278" r:id="rId8"/>
    <p:sldId id="304" r:id="rId9"/>
    <p:sldId id="305" r:id="rId10"/>
    <p:sldId id="306" r:id="rId11"/>
    <p:sldId id="307" r:id="rId12"/>
    <p:sldId id="308" r:id="rId13"/>
    <p:sldId id="309" r:id="rId14"/>
    <p:sldId id="310" r:id="rId15"/>
    <p:sldId id="313" r:id="rId24"/>
    <p:sldId id="311" r:id="rId16"/>
    <p:sldId id="315" r:id="rId25"/>
    <p:sldId id="316" r:id="rId26"/>
    <p:sldId id="282" r:id="rId17"/>
    <p:sldId id="296" r:id="rId18"/>
    <p:sldId id="286" r:id="rId19"/>
    <p:sldId id="297" r:id="rId20"/>
  </p:sldIdLst>
  <p:sldSz cx="12192000" cy="68580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B7C53-FF19-4594-8A08-AF663E4BB809}" type="datetimeFigureOut">
              <a:rPr/>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023CDC-B8F4-4428-A377-0E1D75E83171}" type="slidenum">
              <a:rPr/>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p/>
        </p:txBody>
      </p:sp>
      <p:sp>
        <p:nvSpPr>
          <p:cNvPr id="3" name="备注占位符 2"/>
          <p:cNvSpPr>
            <a:spLocks noGrp="1"/>
          </p:cNvSpPr>
          <p:nvPr>
            <p:ph type="body" idx="1"/>
          </p:nvPr>
        </p:nvSpPr>
        <p:spPr/>
        <p:txBody>
          <a:bodyPr/>
          <a:lstStyle/>
          <a:p>
            <a:pPr algn="just"/>
            <a:endParaRPr lang="zh-CN" altLang="en-US" b="0" i="0" dirty="0">
              <a:solidFill>
                <a:srgbClr val="24292F"/>
              </a:solidFill>
              <a:effectLst/>
              <a:latin typeface="-apple-system"/>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幻灯片图像占位符 1"/>
          <p:cNvSpPr>
            <a:spLocks noGrp="1" noRot="1" noChangeAspect="1"/>
          </p:cNvSpPr>
          <p:nvPr>
            <p:ph type="sldImg"/>
          </p:nvPr>
        </p:nvSpPr>
        <p:spPr/>
        <p:txBody>
          <a:bodyPr/>
          <a:p/>
        </p:txBody>
      </p:sp>
      <p:sp>
        <p:nvSpPr>
          <p:cNvPr id="1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16"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幻灯片图像占位符 1"/>
          <p:cNvSpPr>
            <a:spLocks noGrp="1" noRot="1" noChangeAspect="1"/>
          </p:cNvSpPr>
          <p:nvPr>
            <p:ph type="sldImg"/>
          </p:nvPr>
        </p:nvSpPr>
        <p:spPr>
          <a:xfrm>
            <a:off x="685800" y="1143000"/>
            <a:ext cx="5486400" cy="3086100"/>
          </a:xfrm>
        </p:spPr>
        <p:txBody>
          <a:bodyPr/>
          <a:p/>
        </p:txBody>
      </p:sp>
      <p:sp>
        <p:nvSpPr>
          <p:cNvPr id="19" name="备注占位符 2"/>
          <p:cNvSpPr>
            <a:spLocks noGrp="1"/>
          </p:cNvSpPr>
          <p:nvPr>
            <p:ph type="body" idx="1"/>
          </p:nvPr>
        </p:nvSpPr>
        <p:spPr/>
        <p:txBody>
          <a:bodyPr/>
          <a:lstStyle/>
          <a:p>
            <a:endParaRPr lang="zh-CN" altLang="en-US" sz="1200" dirty="0">
              <a:latin typeface="微软雅黑" panose="020B0503020204020204" pitchFamily="34" charset="-122"/>
              <a:ea typeface="微软雅黑" panose="020B0503020204020204" pitchFamily="34" charset="-122"/>
            </a:endParaRPr>
          </a:p>
        </p:txBody>
      </p:sp>
      <p:sp>
        <p:nvSpPr>
          <p:cNvPr id="20"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26" name="幻灯片图像占位符 1"/>
          <p:cNvSpPr>
            <a:spLocks noGrp="1" noRot="1" noChangeAspect="1"/>
          </p:cNvSpPr>
          <p:nvPr>
            <p:ph type="sldImg"/>
          </p:nvPr>
        </p:nvSpPr>
        <p:spPr/>
        <p:txBody>
          <a:bodyPr/>
          <a:p/>
        </p:txBody>
      </p:sp>
      <p:sp>
        <p:nvSpPr>
          <p:cNvPr id="2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28"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30" name="幻灯片图像占位符 1"/>
          <p:cNvSpPr>
            <a:spLocks noGrp="1" noRot="1" noChangeAspect="1"/>
          </p:cNvSpPr>
          <p:nvPr>
            <p:ph type="sldImg"/>
          </p:nvPr>
        </p:nvSpPr>
        <p:spPr/>
        <p:txBody>
          <a:bodyPr/>
          <a:p/>
        </p:txBody>
      </p:sp>
      <p:sp>
        <p:nvSpPr>
          <p:cNvPr id="3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32"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幻灯片图像占位符 1"/>
          <p:cNvSpPr>
            <a:spLocks noGrp="1" noRot="1" noChangeAspect="1"/>
          </p:cNvSpPr>
          <p:nvPr>
            <p:ph type="sldImg"/>
          </p:nvPr>
        </p:nvSpPr>
        <p:spPr/>
        <p:txBody>
          <a:bodyPr/>
          <a:p/>
        </p:txBody>
      </p:sp>
      <p:sp>
        <p:nvSpPr>
          <p:cNvPr id="7"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8" name="灯片编号占位符 3"/>
          <p:cNvSpPr>
            <a:spLocks noGrp="1"/>
          </p:cNvSpPr>
          <p:nvPr>
            <p:ph type="sldNum" sz="quarter" idx="5"/>
          </p:nvPr>
        </p:nvSpPr>
        <p:spPr/>
        <p:txBody>
          <a:bodyPr/>
          <a:lstStyle/>
          <a:p>
            <a:fld id="{FB66F175-4ECC-FD4F-B375-869C7633B364}" type="slidenum">
              <a:rPr/>
            </a:fld>
            <a:endParaRPr kumimoji="1" lang="zh-CN" altLang="en-US"/>
          </a:p>
        </p:txBody>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来源：Sun et al. (2024), Design-time business process compliance assessment based on multi-granularity semantic information，§4.3 Definitions 4–7。出版信息：https://doi.org/10.1007/s11227-023-05626-0。公式依据：项目本地作者稿 references/papers/Sun_2024_Design_time_BPC.pdf，第 13–14 页；出版社公开页面仅提供摘要。项目方法级独立重建：formal_experiment/src/bpc_hybrid/sun_stage3/sun_scorer.py。原文公式与项目开发后继检查器不混称。</a:t>
            </a:r>
          </a:p>
          <a:p xmlns:a="http://schemas.openxmlformats.org/drawingml/2006/main">
            <a:r>
              <a:t>Definition 4 的 O_{r,m} 来自法规 Actor 与流程 Actor/Business Object 的匹配，不是 Constraint 集合。原文求和的布尔条件以 Iverson 括号明确表示。Definition 5 保留严格 &lt; γ。这里的 1/4 是假设示例。整体规则关联排序在违规评分之前执行，τ 不等同于 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来源：Sun et al. (2024), Design-time business process compliance assessment based on multi-granularity semantic information，§4.3 Definitions 4–7。出版信息：https://doi.org/10.1007/s11227-023-05626-0。公式依据：项目本地作者稿 references/papers/Sun_2024_Design_time_BPC.pdf，第 13–14 页；出版社公开页面仅提供摘要。项目方法级独立重建：formal_experiment/src/bpc_hybrid/sun_stage3/sun_scorer.py。原文公式与项目开发后继检查器不混称。</a:t>
            </a:r>
          </a:p>
          <a:p xmlns:a="http://schemas.openxmlformats.org/drawingml/2006/main">
            <a:r>
              <a:t>Actor 公式中的 x、y 仅为原文演员变量 r、r′ 的更名，避免与 Rule Record r 混淆。R={g∈P_r | ∃(a_r,a_m)∈D_{r,m}, f_r(g)=a_r ∧ sim(a_r,a_m)&gt;γ}。C={y∈bs_obj(A_m∪E_m)∪R_m | ∃g∈R, sim(f_r(g),f_m(y))&gt;γ}。保留原文存在量词，不能改写为 1−max(sim)。</a:t>
            </a:r>
          </a:p>
          <a:p xmlns:a="http://schemas.openxmlformats.org/drawingml/2006/main">
            <a:r>
              <a:t>令 φ(u) 为 D_{r,m} 给定的最佳流程动作，U={ (u,v)∈U_r | sim(u,φ(u))&gt;γ ∧ sim(v,φ(v))&gt;γ }。K 是原 Definition 7 正确顺序集合的简写，满足映射后的正向 F_m 与反向非 F_m。这里沿论文说明用可达性解释流程关系。分母空缺不提供合规证据；冻结实现部分空分母返回数值 0，开发检查器进一步显式标为 unknown，本页不把该实现细节误作原论文新增定义。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“缺少证据”指在非空候选面中未找到足够相似证据。候选面为空时为 unobservable，不能直接报告这类违规。所列四种例子为合成的逻辑示例。约束精确冲突分支目前仅支持可归一化的明确时间上界，不支持任意数量、金额或复杂法律时限推理。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S_a 的相似度调用为 sim_action；S_f 使用 sim_text，均来自相应方法后端，不能表述为所有方法统一 embedding。S_a≥γ_ext 用于 prohibition，S_f&gt;γ_ext 用于三类缺失证据，严格边界不同。γ_m 对应实现中的 per-method gamma。C_f 非空但所有相似度为 0 时 S_f=1；C_f 为空时 score=None。禁止动作分支先检查 modality=prohibition 和 action非空，不使用三类缺失证据门槛。数值时间冲突可在下一页的限定条件下把 constraint score 覆盖为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来源：formal_experiment/src/bpc_hybrid/stage3_extended_violations.py，ExtendedViolationScorer、extract_condition_candidates、extract_constraint_candidates、extract_exception_candidates、detect_exact_constraint_contradiction。四类为本项目扩展，当前属 development-only controlled study，不是 Sun 或 Winter 原生能力，也不是正式七类 benchmark。示例用于解释判定逻辑，不是实验结果。</a:t>
            </a:r>
          </a:p>
          <a:p xmlns:a="http://schemas.openxmlformats.org/drawingml/2006/main">
            <a:r>
              <a:t>证据集合按具体字段分别提取。精确时间矛盾只比较与映射动作绑定的 ConstraintSurface.bound_texts，并检查该约束并非条件内部的时间表达。upper-bound helper 支持 within / at most / no later than / not later than 等明确语法，以及小时、日、周单位的整数时长。月、年和歧义时限不走该精确分支。一般证据池可能包含更广的流程文本，因此语义覆盖不能保证条件真实控制所有执行路径，也不能保证例外被正确处理。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0A2AAB7-EF65-4FB5-8ECF-8589DD2D0660}" type="datetimeFigureOut">
              <a:rPr/>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日期占位符 3"/>
          <p:cNvSpPr>
            <a:spLocks noGrp="1"/>
          </p:cNvSpPr>
          <p:nvPr>
            <p:ph type="dt" sz="half" idx="10"/>
          </p:nvPr>
        </p:nvSpPr>
        <p:spPr/>
        <p:txBody>
          <a:bodyPr/>
          <a:lstStyle/>
          <a:p>
            <a:fld id="{50A2AAB7-EF65-4FB5-8ECF-8589DD2D0660}" type="datetimeFigureOut">
              <a:rPr/>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27" name=""/>
        <p:cNvGrpSpPr/>
        <p:nvPr/>
      </p:nvGrpSpPr>
      <p:grpSpPr>
        <a:xfrm>
          <a:off x="0" y="0"/>
          <a:ext cx="0" cy="0"/>
          <a:chOff x="0" y="0"/>
          <a:chExt cx="0" cy="0"/>
        </a:xfrm>
      </p:grpSpPr>
      <p:sp>
        <p:nvSpPr>
          <p:cNvPr id="28"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9"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30" name="日期占位符 3"/>
          <p:cNvSpPr>
            <a:spLocks noGrp="1"/>
          </p:cNvSpPr>
          <p:nvPr>
            <p:ph type="dt" sz="half" idx="10"/>
          </p:nvPr>
        </p:nvSpPr>
        <p:spPr/>
        <p:txBody>
          <a:bodyPr/>
          <a:lstStyle/>
          <a:p>
            <a:fld id="{50A2AAB7-EF65-4FB5-8ECF-8589DD2D0660}" type="datetimeFigureOut">
              <a:rPr/>
            </a:fld>
            <a:endParaRPr lang="zh-CN" altLang="en-US"/>
          </a:p>
        </p:txBody>
      </p:sp>
      <p:sp>
        <p:nvSpPr>
          <p:cNvPr id="31" name="页脚占位符 4"/>
          <p:cNvSpPr>
            <a:spLocks noGrp="1"/>
          </p:cNvSpPr>
          <p:nvPr>
            <p:ph type="ftr" sz="quarter" idx="11"/>
          </p:nvPr>
        </p:nvSpPr>
        <p:spPr/>
        <p:txBody>
          <a:bodyPr/>
          <a:lstStyle/>
          <a:p>
            <a:endParaRPr lang="zh-CN" altLang="en-US"/>
          </a:p>
        </p:txBody>
      </p:sp>
      <p:sp>
        <p:nvSpPr>
          <p:cNvPr id="32"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33" name=""/>
        <p:cNvGrpSpPr/>
        <p:nvPr/>
      </p:nvGrpSpPr>
      <p:grpSpPr>
        <a:xfrm>
          <a:off x="0" y="0"/>
          <a:ext cx="0" cy="0"/>
          <a:chOff x="0" y="0"/>
          <a:chExt cx="0" cy="0"/>
        </a:xfrm>
      </p:grpSpPr>
      <p:sp>
        <p:nvSpPr>
          <p:cNvPr id="34" name="标题 1"/>
          <p:cNvSpPr>
            <a:spLocks noGrp="1"/>
          </p:cNvSpPr>
          <p:nvPr>
            <p:ph type="title"/>
          </p:nvPr>
        </p:nvSpPr>
        <p:spPr/>
        <p:txBody>
          <a:bodyPr/>
          <a:lstStyle/>
          <a:p>
            <a:r>
              <a:rPr lang="zh-CN" altLang="en-US"/>
              <a:t>单击此处编辑母版标题样式</a:t>
            </a:r>
            <a:endParaRPr lang="zh-CN" altLang="en-US"/>
          </a:p>
        </p:txBody>
      </p:sp>
      <p:sp>
        <p:nvSpPr>
          <p:cNvPr id="35"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6"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7" name="日期占位符 4"/>
          <p:cNvSpPr>
            <a:spLocks noGrp="1"/>
          </p:cNvSpPr>
          <p:nvPr>
            <p:ph type="dt" sz="half" idx="10"/>
          </p:nvPr>
        </p:nvSpPr>
        <p:spPr/>
        <p:txBody>
          <a:bodyPr/>
          <a:lstStyle/>
          <a:p>
            <a:fld id="{50A2AAB7-EF65-4FB5-8ECF-8589DD2D0660}" type="datetimeFigureOut">
              <a:rPr/>
            </a:fld>
            <a:endParaRPr lang="zh-CN" altLang="en-US"/>
          </a:p>
        </p:txBody>
      </p:sp>
      <p:sp>
        <p:nvSpPr>
          <p:cNvPr id="38" name="页脚占位符 5"/>
          <p:cNvSpPr>
            <a:spLocks noGrp="1"/>
          </p:cNvSpPr>
          <p:nvPr>
            <p:ph type="ftr" sz="quarter" idx="11"/>
          </p:nvPr>
        </p:nvSpPr>
        <p:spPr/>
        <p:txBody>
          <a:bodyPr/>
          <a:lstStyle/>
          <a:p>
            <a:endParaRPr lang="zh-CN" altLang="en-US"/>
          </a:p>
        </p:txBody>
      </p:sp>
      <p:sp>
        <p:nvSpPr>
          <p:cNvPr id="39"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40" name=""/>
        <p:cNvGrpSpPr/>
        <p:nvPr/>
      </p:nvGrpSpPr>
      <p:grpSpPr>
        <a:xfrm>
          <a:off x="0" y="0"/>
          <a:ext cx="0" cy="0"/>
          <a:chOff x="0" y="0"/>
          <a:chExt cx="0" cy="0"/>
        </a:xfrm>
      </p:grpSpPr>
      <p:sp>
        <p:nvSpPr>
          <p:cNvPr id="41"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42"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3"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4"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5"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6" name="日期占位符 6"/>
          <p:cNvSpPr>
            <a:spLocks noGrp="1"/>
          </p:cNvSpPr>
          <p:nvPr>
            <p:ph type="dt" sz="half" idx="10"/>
          </p:nvPr>
        </p:nvSpPr>
        <p:spPr/>
        <p:txBody>
          <a:bodyPr/>
          <a:lstStyle/>
          <a:p>
            <a:fld id="{50A2AAB7-EF65-4FB5-8ECF-8589DD2D0660}" type="datetimeFigureOut">
              <a:rPr/>
            </a:fld>
            <a:endParaRPr lang="zh-CN" altLang="en-US"/>
          </a:p>
        </p:txBody>
      </p:sp>
      <p:sp>
        <p:nvSpPr>
          <p:cNvPr id="47" name="页脚占位符 7"/>
          <p:cNvSpPr>
            <a:spLocks noGrp="1"/>
          </p:cNvSpPr>
          <p:nvPr>
            <p:ph type="ftr" sz="quarter" idx="11"/>
          </p:nvPr>
        </p:nvSpPr>
        <p:spPr/>
        <p:txBody>
          <a:bodyPr/>
          <a:lstStyle/>
          <a:p>
            <a:endParaRPr lang="zh-CN" altLang="en-US"/>
          </a:p>
        </p:txBody>
      </p:sp>
      <p:sp>
        <p:nvSpPr>
          <p:cNvPr id="48" name="灯片编号占位符 8"/>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9" name=""/>
        <p:cNvGrpSpPr/>
        <p:nvPr/>
      </p:nvGrpSpPr>
      <p:grpSpPr>
        <a:xfrm>
          <a:off x="0" y="0"/>
          <a:ext cx="0" cy="0"/>
          <a:chOff x="0" y="0"/>
          <a:chExt cx="0" cy="0"/>
        </a:xfrm>
      </p:grpSpPr>
      <p:sp>
        <p:nvSpPr>
          <p:cNvPr id="50" name="标题 1"/>
          <p:cNvSpPr>
            <a:spLocks noGrp="1"/>
          </p:cNvSpPr>
          <p:nvPr>
            <p:ph type="title"/>
          </p:nvPr>
        </p:nvSpPr>
        <p:spPr/>
        <p:txBody>
          <a:bodyPr/>
          <a:lstStyle/>
          <a:p>
            <a:r>
              <a:rPr lang="zh-CN" altLang="en-US"/>
              <a:t>单击此处编辑母版标题样式</a:t>
            </a:r>
            <a:endParaRPr lang="zh-CN" altLang="en-US"/>
          </a:p>
        </p:txBody>
      </p:sp>
      <p:sp>
        <p:nvSpPr>
          <p:cNvPr id="51" name="日期占位符 2"/>
          <p:cNvSpPr>
            <a:spLocks noGrp="1"/>
          </p:cNvSpPr>
          <p:nvPr>
            <p:ph type="dt" sz="half" idx="10"/>
          </p:nvPr>
        </p:nvSpPr>
        <p:spPr/>
        <p:txBody>
          <a:bodyPr/>
          <a:lstStyle/>
          <a:p>
            <a:fld id="{50A2AAB7-EF65-4FB5-8ECF-8589DD2D0660}" type="datetimeFigureOut">
              <a:rPr/>
            </a:fld>
            <a:endParaRPr lang="zh-CN" altLang="en-US"/>
          </a:p>
        </p:txBody>
      </p:sp>
      <p:sp>
        <p:nvSpPr>
          <p:cNvPr id="52" name="页脚占位符 3"/>
          <p:cNvSpPr>
            <a:spLocks noGrp="1"/>
          </p:cNvSpPr>
          <p:nvPr>
            <p:ph type="ftr" sz="quarter" idx="11"/>
          </p:nvPr>
        </p:nvSpPr>
        <p:spPr/>
        <p:txBody>
          <a:bodyPr/>
          <a:lstStyle/>
          <a:p>
            <a:endParaRPr lang="zh-CN" altLang="en-US"/>
          </a:p>
        </p:txBody>
      </p:sp>
      <p:sp>
        <p:nvSpPr>
          <p:cNvPr id="53" name="灯片编号占位符 4"/>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54" name=""/>
        <p:cNvGrpSpPr/>
        <p:nvPr/>
      </p:nvGrpSpPr>
      <p:grpSpPr>
        <a:xfrm>
          <a:off x="0" y="0"/>
          <a:ext cx="0" cy="0"/>
          <a:chOff x="0" y="0"/>
          <a:chExt cx="0" cy="0"/>
        </a:xfrm>
      </p:grpSpPr>
      <p:sp>
        <p:nvSpPr>
          <p:cNvPr id="55" name="日期占位符 1"/>
          <p:cNvSpPr>
            <a:spLocks noGrp="1"/>
          </p:cNvSpPr>
          <p:nvPr>
            <p:ph type="dt" sz="half" idx="10"/>
          </p:nvPr>
        </p:nvSpPr>
        <p:spPr/>
        <p:txBody>
          <a:bodyPr/>
          <a:lstStyle/>
          <a:p>
            <a:fld id="{50A2AAB7-EF65-4FB5-8ECF-8589DD2D0660}" type="datetimeFigureOut">
              <a:rPr/>
            </a:fld>
            <a:endParaRPr lang="zh-CN" altLang="en-US"/>
          </a:p>
        </p:txBody>
      </p:sp>
      <p:sp>
        <p:nvSpPr>
          <p:cNvPr id="56" name="页脚占位符 2"/>
          <p:cNvSpPr>
            <a:spLocks noGrp="1"/>
          </p:cNvSpPr>
          <p:nvPr>
            <p:ph type="ftr" sz="quarter" idx="11"/>
          </p:nvPr>
        </p:nvSpPr>
        <p:spPr/>
        <p:txBody>
          <a:bodyPr/>
          <a:lstStyle/>
          <a:p>
            <a:endParaRPr lang="zh-CN" altLang="en-US"/>
          </a:p>
        </p:txBody>
      </p:sp>
      <p:sp>
        <p:nvSpPr>
          <p:cNvPr id="57" name="灯片编号占位符 3"/>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8" name=""/>
        <p:cNvGrpSpPr/>
        <p:nvPr/>
      </p:nvGrpSpPr>
      <p:grpSpPr>
        <a:xfrm>
          <a:off x="0" y="0"/>
          <a:ext cx="0" cy="0"/>
          <a:chOff x="0" y="0"/>
          <a:chExt cx="0" cy="0"/>
        </a:xfrm>
      </p:grpSpPr>
      <p:sp>
        <p:nvSpPr>
          <p:cNvPr id="59"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60"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1"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2" name="日期占位符 4"/>
          <p:cNvSpPr>
            <a:spLocks noGrp="1"/>
          </p:cNvSpPr>
          <p:nvPr>
            <p:ph type="dt" sz="half" idx="10"/>
          </p:nvPr>
        </p:nvSpPr>
        <p:spPr/>
        <p:txBody>
          <a:bodyPr/>
          <a:lstStyle/>
          <a:p>
            <a:fld id="{50A2AAB7-EF65-4FB5-8ECF-8589DD2D0660}" type="datetimeFigureOut">
              <a:rPr/>
            </a:fld>
            <a:endParaRPr lang="zh-CN" altLang="en-US"/>
          </a:p>
        </p:txBody>
      </p:sp>
      <p:sp>
        <p:nvSpPr>
          <p:cNvPr id="63" name="页脚占位符 5"/>
          <p:cNvSpPr>
            <a:spLocks noGrp="1"/>
          </p:cNvSpPr>
          <p:nvPr>
            <p:ph type="ftr" sz="quarter" idx="11"/>
          </p:nvPr>
        </p:nvSpPr>
        <p:spPr/>
        <p:txBody>
          <a:bodyPr/>
          <a:lstStyle/>
          <a:p>
            <a:endParaRPr lang="zh-CN" altLang="en-US"/>
          </a:p>
        </p:txBody>
      </p:sp>
      <p:sp>
        <p:nvSpPr>
          <p:cNvPr id="64"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65" name=""/>
        <p:cNvGrpSpPr/>
        <p:nvPr/>
      </p:nvGrpSpPr>
      <p:grpSpPr>
        <a:xfrm>
          <a:off x="0" y="0"/>
          <a:ext cx="0" cy="0"/>
          <a:chOff x="0" y="0"/>
          <a:chExt cx="0" cy="0"/>
        </a:xfrm>
      </p:grpSpPr>
      <p:sp>
        <p:nvSpPr>
          <p:cNvPr id="6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6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8"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9" name="日期占位符 4"/>
          <p:cNvSpPr>
            <a:spLocks noGrp="1"/>
          </p:cNvSpPr>
          <p:nvPr>
            <p:ph type="dt" sz="half" idx="10"/>
          </p:nvPr>
        </p:nvSpPr>
        <p:spPr/>
        <p:txBody>
          <a:bodyPr/>
          <a:lstStyle/>
          <a:p>
            <a:fld id="{50A2AAB7-EF65-4FB5-8ECF-8589DD2D0660}" type="datetimeFigureOut">
              <a:rPr/>
            </a:fld>
            <a:endParaRPr lang="zh-CN" altLang="en-US"/>
          </a:p>
        </p:txBody>
      </p:sp>
      <p:sp>
        <p:nvSpPr>
          <p:cNvPr id="70" name="页脚占位符 5"/>
          <p:cNvSpPr>
            <a:spLocks noGrp="1"/>
          </p:cNvSpPr>
          <p:nvPr>
            <p:ph type="ftr" sz="quarter" idx="11"/>
          </p:nvPr>
        </p:nvSpPr>
        <p:spPr/>
        <p:txBody>
          <a:bodyPr/>
          <a:lstStyle/>
          <a:p>
            <a:endParaRPr lang="zh-CN" altLang="en-US"/>
          </a:p>
        </p:txBody>
      </p:sp>
      <p:sp>
        <p:nvSpPr>
          <p:cNvPr id="71" name="灯片编号占位符 6"/>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72" name=""/>
        <p:cNvGrpSpPr/>
        <p:nvPr/>
      </p:nvGrpSpPr>
      <p:grpSpPr>
        <a:xfrm>
          <a:off x="0" y="0"/>
          <a:ext cx="0" cy="0"/>
          <a:chOff x="0" y="0"/>
          <a:chExt cx="0" cy="0"/>
        </a:xfrm>
      </p:grpSpPr>
      <p:sp>
        <p:nvSpPr>
          <p:cNvPr id="73" name="标题 1"/>
          <p:cNvSpPr>
            <a:spLocks noGrp="1"/>
          </p:cNvSpPr>
          <p:nvPr>
            <p:ph type="title"/>
          </p:nvPr>
        </p:nvSpPr>
        <p:spPr/>
        <p:txBody>
          <a:bodyPr/>
          <a:lstStyle/>
          <a:p>
            <a:r>
              <a:rPr lang="zh-CN" altLang="en-US"/>
              <a:t>单击此处编辑母版标题样式</a:t>
            </a:r>
            <a:endParaRPr lang="zh-CN" altLang="en-US"/>
          </a:p>
        </p:txBody>
      </p:sp>
      <p:sp>
        <p:nvSpPr>
          <p:cNvPr id="74"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5" name="日期占位符 3"/>
          <p:cNvSpPr>
            <a:spLocks noGrp="1"/>
          </p:cNvSpPr>
          <p:nvPr>
            <p:ph type="dt" sz="half" idx="10"/>
          </p:nvPr>
        </p:nvSpPr>
        <p:spPr/>
        <p:txBody>
          <a:bodyPr/>
          <a:lstStyle/>
          <a:p>
            <a:fld id="{50A2AAB7-EF65-4FB5-8ECF-8589DD2D0660}" type="datetimeFigureOut">
              <a:rPr/>
            </a:fld>
            <a:endParaRPr lang="zh-CN" altLang="en-US"/>
          </a:p>
        </p:txBody>
      </p:sp>
      <p:sp>
        <p:nvSpPr>
          <p:cNvPr id="76" name="页脚占位符 4"/>
          <p:cNvSpPr>
            <a:spLocks noGrp="1"/>
          </p:cNvSpPr>
          <p:nvPr>
            <p:ph type="ftr" sz="quarter" idx="11"/>
          </p:nvPr>
        </p:nvSpPr>
        <p:spPr/>
        <p:txBody>
          <a:bodyPr/>
          <a:lstStyle/>
          <a:p>
            <a:endParaRPr lang="zh-CN" altLang="en-US"/>
          </a:p>
        </p:txBody>
      </p:sp>
      <p:sp>
        <p:nvSpPr>
          <p:cNvPr id="77"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6" name="日期占位符 3"/>
          <p:cNvSpPr>
            <a:spLocks noGrp="1"/>
          </p:cNvSpPr>
          <p:nvPr>
            <p:ph type="dt" sz="half" idx="10"/>
          </p:nvPr>
        </p:nvSpPr>
        <p:spPr/>
        <p:txBody>
          <a:bodyPr/>
          <a:lstStyle/>
          <a:p>
            <a:fld id="{50A2AAB7-EF65-4FB5-8ECF-8589DD2D0660}" type="datetimeFigureOut">
              <a:rPr/>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F1F16121-F896-4172-87E9-C2BC1B5848A2}" type="slidenum">
              <a:rPr/>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节标题">
    <p:spTree>
      <p:nvGrpSpPr>
        <p:cNvPr id="19" name=""/>
        <p:cNvGrpSpPr/>
        <p:nvPr/>
      </p:nvGrpSpPr>
      <p:grpSpPr>
        <a:xfrm>
          <a:off x="0" y="0"/>
          <a:ext cx="0" cy="0"/>
          <a:chOff x="0" y="0"/>
          <a:chExt cx="0" cy="0"/>
        </a:xfrm>
      </p:grpSpPr>
      <p:pic>
        <p:nvPicPr>
          <p:cNvPr id="20" name="Picture 4"/>
          <p:cNvPicPr>
            <a:picLocks noChangeAspect="1" noChangeArrowheads="1"/>
          </p:cNvPicPr>
          <p:nvPr userDrawn="1"/>
        </p:nvPicPr>
        <p:blipFill>
          <a:blip r:embed="rId2"/>
          <a:srcRect/>
          <a:stretch>
            <a:fillRect/>
          </a:stretch>
        </p:blipFill>
        <p:spPr bwMode="auto">
          <a:xfrm>
            <a:off x="0" y="-11876"/>
            <a:ext cx="12188296" cy="685384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100" advTm="35000">
        <p14:prism/>
      </p:transition>
    </mc:Choice>
    <mc:Fallback>
      <p:transition spd="slow" advTm="3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空白">
    <p:bg>
      <p:bgPr>
        <a:solidFill>
          <a:schemeClr val="bg1"/>
        </a:solidFill>
        <a:effectLst/>
      </p:bgPr>
    </p:bg>
    <p:spTree>
      <p:nvGrpSpPr>
        <p:cNvPr id="21" name=""/>
        <p:cNvGrpSpPr/>
        <p:nvPr/>
      </p:nvGrpSpPr>
      <p:grpSpPr>
        <a:xfrm>
          <a:off x="0" y="0"/>
          <a:ext cx="0" cy="0"/>
          <a:chOff x="0" y="0"/>
          <a:chExt cx="0" cy="0"/>
        </a:xfrm>
      </p:grpSpPr>
      <p:sp>
        <p:nvSpPr>
          <p:cNvPr id="22" name="矩形 5"/>
          <p:cNvSpPr/>
          <p:nvPr/>
        </p:nvSpPr>
        <p:spPr>
          <a:xfrm>
            <a:off x="0" y="0"/>
            <a:ext cx="12192000" cy="636494"/>
          </a:xfrm>
          <a:prstGeom prst="rect">
            <a:avLst/>
          </a:prstGeom>
          <a:solidFill>
            <a:srgbClr val="034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Content Placeholder 2"/>
          <p:cNvSpPr>
            <a:spLocks noGrp="1"/>
          </p:cNvSpPr>
          <p:nvPr>
            <p:ph idx="1" hasCustomPrompt="1"/>
          </p:nvPr>
        </p:nvSpPr>
        <p:spPr>
          <a:xfrm>
            <a:off x="383364" y="957640"/>
            <a:ext cx="11424000" cy="5418000"/>
          </a:xfrm>
          <a:noFill/>
        </p:spPr>
        <p:txBody>
          <a:bodyPr>
            <a:normAutofit/>
          </a:bodyPr>
          <a:lstStyle>
            <a:lvl1pPr>
              <a:lnSpc>
                <a:spcPct val="100000"/>
              </a:lnSpc>
              <a:defRPr sz="2400">
                <a:solidFill>
                  <a:schemeClr val="tx1"/>
                </a:solidFill>
                <a:latin typeface="微软雅黑" panose="020B0503020204020204" pitchFamily="34" charset="-122"/>
                <a:ea typeface="微软雅黑" panose="020B0503020204020204" pitchFamily="34" charset="-122"/>
              </a:defRPr>
            </a:lvl1pPr>
            <a:lvl2pPr>
              <a:lnSpc>
                <a:spcPct val="100000"/>
              </a:lnSpc>
              <a:defRPr sz="2200">
                <a:latin typeface="Arial" panose="020B0604020202020204" pitchFamily="34" charset="0"/>
                <a:ea typeface="微软雅黑" panose="020B0503020204020204" pitchFamily="34" charset="-122"/>
                <a:cs typeface="Arial" panose="020B0604020202020204" pitchFamily="34" charset="0"/>
              </a:defRPr>
            </a:lvl2pPr>
            <a:lvl3pPr>
              <a:lnSpc>
                <a:spcPct val="100000"/>
              </a:lnSpc>
              <a:defRPr sz="1800">
                <a:latin typeface="Arial" panose="020B0604020202020204" pitchFamily="34" charset="0"/>
                <a:ea typeface="仿宋" panose="02010609060101010101" pitchFamily="49" charset="-122"/>
                <a:cs typeface="Arial" panose="020B0604020202020204" pitchFamily="34" charset="0"/>
              </a:defRPr>
            </a:lvl3pPr>
            <a:lvl4pPr>
              <a:lnSpc>
                <a:spcPct val="100000"/>
              </a:lnSpc>
              <a:defRPr sz="1800">
                <a:latin typeface="仿宋" panose="02010609060101010101" pitchFamily="49" charset="-122"/>
                <a:ea typeface="仿宋" panose="02010609060101010101" pitchFamily="49" charset="-122"/>
              </a:defRPr>
            </a:lvl4pPr>
            <a:lvl5pPr>
              <a:lnSpc>
                <a:spcPct val="100000"/>
              </a:lnSpc>
              <a:defRPr sz="1800">
                <a:latin typeface="仿宋" panose="02010609060101010101" pitchFamily="49" charset="-122"/>
                <a:ea typeface="仿宋" panose="02010609060101010101" pitchFamily="49" charset="-122"/>
              </a:defRPr>
            </a:lvl5pPr>
          </a:lstStyle>
          <a:p>
            <a:pPr lvl="0"/>
            <a:r>
              <a:rPr lang="zh-CN" altLang="en-US" dirty="0"/>
              <a:t>编辑母版文本样式</a:t>
            </a:r>
            <a:endParaRPr lang="en-US" altLang="zh-CN" dirty="0"/>
          </a:p>
          <a:p>
            <a:pPr lvl="1"/>
            <a:endParaRPr lang="en-US" altLang="zh-CN" dirty="0"/>
          </a:p>
          <a:p>
            <a:pPr lvl="2"/>
            <a:r>
              <a:rPr lang="zh-CN" altLang="en-US" dirty="0"/>
              <a:t>
第二级
第三级
第四级
第五级</a:t>
            </a:r>
            <a:endParaRPr lang="en-US" dirty="0"/>
          </a:p>
        </p:txBody>
      </p:sp>
      <p:sp>
        <p:nvSpPr>
          <p:cNvPr id="24" name="标题 2"/>
          <p:cNvSpPr>
            <a:spLocks noGrp="1"/>
          </p:cNvSpPr>
          <p:nvPr>
            <p:ph type="title" hasCustomPrompt="1"/>
          </p:nvPr>
        </p:nvSpPr>
        <p:spPr>
          <a:xfrm>
            <a:off x="0" y="-77024"/>
            <a:ext cx="8518079" cy="768750"/>
          </a:xfrm>
        </p:spPr>
        <p:txBody>
          <a:bodyPr>
            <a:normAutofit/>
          </a:bodyPr>
          <a:lstStyle>
            <a:lvl1pPr algn="l">
              <a:defRPr sz="2800">
                <a:solidFill>
                  <a:schemeClr val="bg1"/>
                </a:solidFill>
                <a:latin typeface="微软雅黑" panose="020B0503020204020204" pitchFamily="34" charset="-122"/>
                <a:ea typeface="微软雅黑" panose="020B0503020204020204" pitchFamily="34" charset="-122"/>
              </a:defRPr>
            </a:lvl1pPr>
          </a:lstStyle>
          <a:p>
            <a:r>
              <a:rPr lang="zh-CN" altLang="en-US" dirty="0"/>
              <a:t>内容</a:t>
            </a:r>
            <a:endParaRPr lang="zh-CN" altLang="en-US" dirty="0"/>
          </a:p>
        </p:txBody>
      </p:sp>
      <p:sp>
        <p:nvSpPr>
          <p:cNvPr id="25" name="矩形 11"/>
          <p:cNvSpPr/>
          <p:nvPr userDrawn="1"/>
        </p:nvSpPr>
        <p:spPr>
          <a:xfrm>
            <a:off x="0" y="6425565"/>
            <a:ext cx="12192000" cy="432435"/>
          </a:xfrm>
          <a:prstGeom prst="rect">
            <a:avLst/>
          </a:prstGeom>
          <a:solidFill>
            <a:srgbClr val="0343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sym typeface="+mn-ea"/>
              </a:rPr>
              <a:t>Design-Time Business Process Compliance Checking with LLMs over Natural-Language Regulations</a:t>
            </a:r>
            <a:endParaRPr lang="zh-CN" altLang="en-US" sz="2000" dirty="0">
              <a:latin typeface="Times New Roman" panose="02020603050405020304" pitchFamily="18" charset="0"/>
              <a:cs typeface="Times New Roman" panose="02020603050405020304" pitchFamily="18" charset="0"/>
            </a:endParaRPr>
          </a:p>
        </p:txBody>
      </p:sp>
      <p:pic>
        <p:nvPicPr>
          <p:cNvPr id="26" name="图片 6"/>
          <p:cNvPicPr>
            <a:picLocks noChangeAspect="1"/>
          </p:cNvPicPr>
          <p:nvPr userDrawn="1"/>
        </p:nvPicPr>
        <p:blipFill>
          <a:blip r:embed="rId2"/>
          <a:stretch>
            <a:fillRect/>
          </a:stretch>
        </p:blipFill>
        <p:spPr>
          <a:xfrm>
            <a:off x="9273395" y="0"/>
            <a:ext cx="2918603" cy="614702"/>
          </a:xfrm>
          <a:prstGeom prst="rect">
            <a:avLst/>
          </a:prstGeom>
          <a:ln>
            <a:solidFill>
              <a:srgbClr val="03428B"/>
            </a:solidFill>
          </a:ln>
        </p:spPr>
      </p:pic>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2AAB7-EF65-4FB5-8ECF-8589DD2D0660}" type="datetimeFigureOut">
              <a:rPr/>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F16121-F896-4172-87E9-C2BC1B5848A2}" type="slidenum">
              <a:rPr/>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notesSlide" Target="../notesSlides/notesSlide4.xml"/><Relationship Id="rId25" Type="http://schemas.openxmlformats.org/officeDocument/2006/relationships/slideLayout" Target="../slideLayouts/slideLayout12.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sv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Stage3Notes"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Stage3Notes"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Stage3Notes"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12192000" cy="0"/>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152400" y="152400"/>
            <a:ext cx="12192000" cy="0"/>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文本框 11"/>
          <p:cNvSpPr txBox="1"/>
          <p:nvPr/>
        </p:nvSpPr>
        <p:spPr>
          <a:xfrm>
            <a:off x="983615" y="1629410"/>
            <a:ext cx="10233660" cy="1198880"/>
          </a:xfrm>
          <a:prstGeom prst="rect">
            <a:avLst/>
          </a:prstGeom>
          <a:noFill/>
        </p:spPr>
        <p:txBody>
          <a:bodyPr wrap="square">
            <a:spAutoFit/>
          </a:bodyPr>
          <a:lstStyle/>
          <a:p>
            <a:pPr algn="ctr"/>
            <a:r>
              <a:rPr lang="en-US" altLang="zh-CN" sz="3600" dirty="0">
                <a:latin typeface="Times New Roman" panose="02020603050405020304" pitchFamily="18" charset="0"/>
                <a:cs typeface="Times New Roman" panose="02020603050405020304" pitchFamily="18" charset="0"/>
              </a:rPr>
              <a:t>Design-Time Business Process Compliance Checking with LLMs over Natural-Language Regulations</a:t>
            </a:r>
            <a:endParaRPr lang="en-US" altLang="zh-CN" sz="3600" dirty="0">
              <a:latin typeface="Times New Roman" panose="02020603050405020304" pitchFamily="18" charset="0"/>
              <a:cs typeface="Times New Roman" panose="02020603050405020304" pitchFamily="18" charset="0"/>
            </a:endParaRPr>
          </a:p>
        </p:txBody>
      </p:sp>
      <p:cxnSp>
        <p:nvCxnSpPr>
          <p:cNvPr id="6" name="直接连接符 18"/>
          <p:cNvCxnSpPr/>
          <p:nvPr/>
        </p:nvCxnSpPr>
        <p:spPr>
          <a:xfrm>
            <a:off x="254126" y="3503681"/>
            <a:ext cx="5439664" cy="0"/>
          </a:xfrm>
          <a:prstGeom prst="line">
            <a:avLst/>
          </a:prstGeom>
          <a:ln w="41275">
            <a:solidFill>
              <a:srgbClr val="0070C0"/>
            </a:solidFill>
          </a:ln>
        </p:spPr>
        <p:style>
          <a:lnRef idx="3">
            <a:schemeClr val="accent1"/>
          </a:lnRef>
          <a:fillRef idx="0">
            <a:schemeClr val="accent1"/>
          </a:fillRef>
          <a:effectRef idx="2">
            <a:schemeClr val="accent1"/>
          </a:effectRef>
          <a:fontRef idx="minor">
            <a:schemeClr val="tx1"/>
          </a:fontRef>
        </p:style>
      </p:cxnSp>
      <p:cxnSp>
        <p:nvCxnSpPr>
          <p:cNvPr id="7" name="直接连接符 19"/>
          <p:cNvCxnSpPr/>
          <p:nvPr/>
        </p:nvCxnSpPr>
        <p:spPr>
          <a:xfrm>
            <a:off x="6096000" y="3497731"/>
            <a:ext cx="5841874" cy="0"/>
          </a:xfrm>
          <a:prstGeom prst="line">
            <a:avLst/>
          </a:prstGeom>
          <a:ln w="412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椭圆 25"/>
          <p:cNvSpPr/>
          <p:nvPr/>
        </p:nvSpPr>
        <p:spPr>
          <a:xfrm>
            <a:off x="5825764" y="3459463"/>
            <a:ext cx="135117" cy="7653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1"/>
          <p:cNvSpPr txBox="1"/>
          <p:nvPr/>
        </p:nvSpPr>
        <p:spPr>
          <a:xfrm>
            <a:off x="8842341" y="5676017"/>
            <a:ext cx="2952783" cy="706755"/>
          </a:xfrm>
          <a:prstGeom prst="rect">
            <a:avLst/>
          </a:prstGeom>
          <a:noFill/>
        </p:spPr>
        <p:txBody>
          <a:bodyPr wrap="square" rtlCol="0">
            <a:spAutoFit/>
          </a:bodyPr>
          <a:lstStyle/>
          <a:p>
            <a:pPr algn="l"/>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汇报人：</a:t>
            </a:r>
            <a:r>
              <a:rPr lang="en-US" altLang="zh-CN" sz="2000" dirty="0">
                <a:latin typeface="Times New Roman" panose="02020603050405020304" pitchFamily="18" charset="0"/>
                <a:ea typeface="微软雅黑" panose="020B0503020204020204" pitchFamily="34" charset="-122"/>
              </a:rPr>
              <a:t>      </a:t>
            </a:r>
            <a:r>
              <a:rPr lang="zh-CN" altLang="en-US" sz="2000" dirty="0">
                <a:latin typeface="Times New Roman" panose="02020603050405020304" pitchFamily="18" charset="0"/>
                <a:ea typeface="微软雅黑" panose="020B0503020204020204" pitchFamily="34" charset="-122"/>
              </a:rPr>
              <a:t>霍颖超</a:t>
            </a:r>
            <a:r>
              <a:rPr lang="en-US" altLang="zh-CN" sz="2000" dirty="0">
                <a:latin typeface="Times New Roman" panose="02020603050405020304" pitchFamily="18" charset="0"/>
                <a:ea typeface="微软雅黑" panose="020B0503020204020204" pitchFamily="34" charset="-122"/>
              </a:rPr>
              <a:t>   </a:t>
            </a:r>
            <a:endParaRPr lang="zh-CN" altLang="en-US" sz="2000" dirty="0">
              <a:latin typeface="Times New Roman" panose="02020603050405020304" pitchFamily="18" charset="0"/>
              <a:ea typeface="微软雅黑" panose="020B0503020204020204" pitchFamily="34" charset="-122"/>
            </a:endParaRPr>
          </a:p>
          <a:p>
            <a:pPr algn="r"/>
            <a:r>
              <a:rPr lang="zh-CN" altLang="en-US" sz="2000" dirty="0">
                <a:latin typeface="Times New Roman" panose="02020603050405020304" pitchFamily="18" charset="0"/>
                <a:ea typeface="微软雅黑" panose="020B0503020204020204" pitchFamily="34" charset="-122"/>
              </a:rPr>
              <a:t>汇报时间：</a:t>
            </a:r>
            <a:r>
              <a:rPr lang="en-US" altLang="zh-CN" sz="2000" dirty="0">
                <a:latin typeface="Times New Roman" panose="02020603050405020304" pitchFamily="18" charset="0"/>
                <a:ea typeface="微软雅黑" panose="020B0503020204020204" pitchFamily="34" charset="-122"/>
              </a:rPr>
              <a:t>  2026.09.11</a:t>
            </a:r>
            <a:endParaRPr lang="zh-CN" altLang="en-US" sz="2000" dirty="0">
              <a:latin typeface="Times New Roman" panose="02020603050405020304" pitchFamily="18" charset="0"/>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47"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48"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49"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50" name="组合 31"/>
          <p:cNvGrpSpPr/>
          <p:nvPr/>
        </p:nvGrpSpPr>
        <p:grpSpPr>
          <a:xfrm>
            <a:off x="4334366" y="867211"/>
            <a:ext cx="6431043" cy="1134781"/>
            <a:chOff x="3781167" y="-569597"/>
            <a:chExt cx="7100675" cy="1134781"/>
          </a:xfrm>
        </p:grpSpPr>
        <p:sp>
          <p:nvSpPr>
            <p:cNvPr id="51"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52"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53" name="组合 38"/>
            <p:cNvGrpSpPr/>
            <p:nvPr/>
          </p:nvGrpSpPr>
          <p:grpSpPr>
            <a:xfrm rot="16200000">
              <a:off x="4093035" y="-642392"/>
              <a:ext cx="1134781" cy="1280371"/>
              <a:chOff x="8439634" y="3544648"/>
              <a:chExt cx="1611146" cy="1817848"/>
            </a:xfrm>
          </p:grpSpPr>
          <p:sp>
            <p:nvSpPr>
              <p:cNvPr id="54"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55"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56"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57" name="组合 43"/>
          <p:cNvGrpSpPr/>
          <p:nvPr/>
        </p:nvGrpSpPr>
        <p:grpSpPr>
          <a:xfrm>
            <a:off x="4334364" y="2284232"/>
            <a:ext cx="6399716" cy="1134781"/>
            <a:chOff x="3781167" y="-569597"/>
            <a:chExt cx="7100675" cy="1134781"/>
          </a:xfrm>
        </p:grpSpPr>
        <p:sp>
          <p:nvSpPr>
            <p:cNvPr id="58"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59"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60" name="组合 56"/>
            <p:cNvGrpSpPr/>
            <p:nvPr/>
          </p:nvGrpSpPr>
          <p:grpSpPr>
            <a:xfrm rot="16200000">
              <a:off x="4093035" y="-642392"/>
              <a:ext cx="1134781" cy="1280371"/>
              <a:chOff x="8439634" y="3544648"/>
              <a:chExt cx="1611146" cy="1817848"/>
            </a:xfrm>
          </p:grpSpPr>
          <p:sp>
            <p:nvSpPr>
              <p:cNvPr id="61"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62"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63"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64" name="组合 2"/>
          <p:cNvGrpSpPr/>
          <p:nvPr/>
        </p:nvGrpSpPr>
        <p:grpSpPr>
          <a:xfrm>
            <a:off x="4349602" y="3669367"/>
            <a:ext cx="6399717" cy="1134781"/>
            <a:chOff x="3781167" y="-569597"/>
            <a:chExt cx="7100675" cy="1134781"/>
          </a:xfrm>
        </p:grpSpPr>
        <p:sp>
          <p:nvSpPr>
            <p:cNvPr id="65"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66"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67" name="组合 5"/>
            <p:cNvGrpSpPr/>
            <p:nvPr/>
          </p:nvGrpSpPr>
          <p:grpSpPr>
            <a:xfrm rot="16200000">
              <a:off x="4093035" y="-642392"/>
              <a:ext cx="1134781" cy="1280371"/>
              <a:chOff x="8439634" y="3544648"/>
              <a:chExt cx="1611146" cy="1817848"/>
            </a:xfrm>
          </p:grpSpPr>
          <p:sp>
            <p:nvSpPr>
              <p:cNvPr id="68"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69"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70"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71" name="组合 1"/>
          <p:cNvGrpSpPr/>
          <p:nvPr/>
        </p:nvGrpSpPr>
        <p:grpSpPr>
          <a:xfrm>
            <a:off x="4317856" y="5060435"/>
            <a:ext cx="6431044" cy="1134781"/>
            <a:chOff x="3781167" y="-569597"/>
            <a:chExt cx="7100676" cy="1134781"/>
          </a:xfrm>
        </p:grpSpPr>
        <p:sp>
          <p:nvSpPr>
            <p:cNvPr id="72"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73"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74" name="组合 11"/>
            <p:cNvGrpSpPr/>
            <p:nvPr/>
          </p:nvGrpSpPr>
          <p:grpSpPr>
            <a:xfrm rot="16200000">
              <a:off x="4093035" y="-642392"/>
              <a:ext cx="1134781" cy="1280371"/>
              <a:chOff x="8439634" y="3544648"/>
              <a:chExt cx="1611146" cy="1817848"/>
            </a:xfrm>
          </p:grpSpPr>
          <p:sp>
            <p:nvSpPr>
              <p:cNvPr id="75"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76"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77"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79" name="标题 2"/>
          <p:cNvSpPr>
            <a:spLocks noGrp="1"/>
          </p:cNvSpPr>
          <p:nvPr>
            <p:ph type="title"/>
          </p:nvPr>
        </p:nvSpPr>
        <p:spPr>
          <a:xfrm>
            <a:off x="1" y="0"/>
            <a:ext cx="8602960" cy="635000"/>
          </a:xfrm>
        </p:spPr>
        <p:txBody>
          <a:bodyPr>
            <a:noAutofit/>
          </a:bodyPr>
          <a:lstStyle/>
          <a:p>
            <a:r>
              <a:rPr kumimoji="1" lang="zh-CN" altLang="en-US" b="1" dirty="0">
                <a:latin typeface="Times New Roman" panose="02020603050405020304" pitchFamily="18" charset="0"/>
                <a:ea typeface="微软雅黑 Light" panose="020B0502040204020203" charset="-122"/>
                <a:cs typeface="Times New Roman" panose="02020603050405020304" pitchFamily="18" charset="0"/>
              </a:rPr>
              <a:t>背景与动机</a:t>
            </a:r>
            <a:endParaRPr kumimoji="1" lang="zh-CN" altLang="en-US" b="1" dirty="0">
              <a:latin typeface="Times New Roman" panose="02020603050405020304" pitchFamily="18" charset="0"/>
              <a:ea typeface="微软雅黑 Light" panose="020B0502040204020203" charset="-122"/>
              <a:cs typeface="Times New Roman" panose="02020603050405020304" pitchFamily="18" charset="0"/>
            </a:endParaRPr>
          </a:p>
        </p:txBody>
      </p:sp>
      <p:sp>
        <p:nvSpPr>
          <p:cNvPr id="80" name="Rectangle 1"/>
          <p:cNvSpPr>
            <a:spLocks noChangeArrowheads="1"/>
          </p:cNvSpPr>
          <p:nvPr/>
        </p:nvSpPr>
        <p:spPr bwMode="auto">
          <a:xfrm>
            <a:off x="0" y="-276999"/>
            <a:ext cx="65" cy="553998"/>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1" name="Rectangle 2"/>
          <p:cNvSpPr>
            <a:spLocks noChangeArrowheads="1"/>
          </p:cNvSpPr>
          <p:nvPr/>
        </p:nvSpPr>
        <p:spPr bwMode="auto">
          <a:xfrm>
            <a:off x="152400" y="-124599"/>
            <a:ext cx="65" cy="553998"/>
          </a:xfrm>
          <a:prstGeom prst="rect">
            <a:avLst/>
          </a:prstGeom>
          <a:solidFill>
            <a:srgbClr val="FFFFFF"/>
          </a:solidFill>
          <a:ln>
            <a:noFill/>
          </a:ln>
          <a:effec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82" name="文本框 4"/>
          <p:cNvSpPr txBox="1"/>
          <p:nvPr/>
        </p:nvSpPr>
        <p:spPr>
          <a:xfrm>
            <a:off x="152400" y="981075"/>
            <a:ext cx="11538585" cy="4970145"/>
          </a:xfrm>
          <a:prstGeom prst="rect">
            <a:avLst/>
          </a:prstGeom>
          <a:noFill/>
        </p:spPr>
        <p:txBody>
          <a:bodyPr wrap="square" rtlCol="0">
            <a:noAutofit/>
          </a:bodyPr>
          <a:lstStyle/>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在企业、政府、金融、医疗等实际业务场景中，一个业务流程通常不能只满足“能够正常执行”，还需要满足相关法律法规、行业规范以及组织内部制度的要求。例如，某些操作必须由指定角色执行，某些任务必须按照规定顺序完成，在满足特定条件时必须执行某项操作，而在某些例外情况下又可以豁免。</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因此，在业务流程正式部署和运行之前，需要判断流程设计是否违反这些合规规则，即进行设计时业务流程合规性检查（</a:t>
            </a:r>
            <a:r>
              <a:rPr lang="en-US" altLang="zh-CN" sz="2000" dirty="0">
                <a:latin typeface="Times New Roman" panose="02020603050405020304" pitchFamily="18" charset="0"/>
                <a:ea typeface="微软雅黑" panose="020B0503020204020204" pitchFamily="34" charset="-122"/>
                <a:cs typeface="宋体" panose="02010600030101010101" pitchFamily="2" charset="-122"/>
              </a:rPr>
              <a:t>Design-Time Business Process Compliance Checking）。</a:t>
            </a: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然而，现实中的法规和业务规范通常以自然语言形式存在，而计算机难以直接利用自然语言规则进行精确判断。因此，传统方法往往需要先由人工或领域专家将自然语言规则转换成逻辑公式、约束规则等形式化表示，再进一步进行自动化合规检查。</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endParaRPr lang="en-US" altLang="zh-CN" sz="2000" dirty="0">
              <a:latin typeface="Times New Roman" panose="02020603050405020304" pitchFamily="18" charset="0"/>
              <a:ea typeface="微软雅黑" panose="020B0503020204020204" pitchFamily="34" charset="-122"/>
              <a:cs typeface="宋体" panose="02010600030101010101" pitchFamily="2" charset="-122"/>
            </a:endParaRPr>
          </a:p>
          <a:p>
            <a:pPr indent="457200">
              <a:lnSpc>
                <a:spcPct val="120000"/>
              </a:lnSpc>
            </a:pPr>
            <a:r>
              <a:rPr lang="zh-CN" altLang="en-US" sz="2000" dirty="0">
                <a:latin typeface="Times New Roman" panose="02020603050405020304" pitchFamily="18" charset="0"/>
                <a:ea typeface="微软雅黑" panose="020B0503020204020204" pitchFamily="34" charset="-122"/>
                <a:cs typeface="宋体" panose="02010600030101010101" pitchFamily="2" charset="-122"/>
              </a:rPr>
              <a:t>这种方式存在较强的人工依赖：不仅需要理解法规语义，还需要掌握相应的形式化表示方法。当规则数量较多、语义复杂或者法规发生变化时，规则构建和维护的成本都会进一步增加。</a:t>
            </a:r>
            <a:endParaRPr lang="zh-CN" altLang="en-US" sz="2000" dirty="0">
              <a:latin typeface="Times New Roman" panose="02020603050405020304" pitchFamily="18" charset="0"/>
              <a:ea typeface="微软雅黑" panose="020B0503020204020204" pitchFamily="34" charset="-122"/>
              <a:cs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背景与</a:t>
            </a:r>
            <a:r>
              <a:rPr lang="zh-CN" altLang="en-US"/>
              <a:t>动机</a:t>
            </a:r>
            <a:endParaRPr lang="zh-CN" altLang="en-US"/>
          </a:p>
        </p:txBody>
      </p:sp>
      <p:sp>
        <p:nvSpPr>
          <p:cNvPr id="4" name="文本框 3"/>
          <p:cNvSpPr txBox="1"/>
          <p:nvPr/>
        </p:nvSpPr>
        <p:spPr>
          <a:xfrm>
            <a:off x="335280" y="764540"/>
            <a:ext cx="11573510" cy="5123815"/>
          </a:xfrm>
          <a:prstGeom prst="rect">
            <a:avLst/>
          </a:prstGeom>
        </p:spPr>
        <p:txBody>
          <a:bodyPr>
            <a:noAutofit/>
            <a:extLst>
              <a:ext uri="{4A0BC546-FE56-4ADE-93B0-CB8AF2F6F144}">
                <wpsdc:textFrameExt xmlns:wpsdc="http://www.wps.cn/officeDocument/2022/drawingmlCustomData" type="text"/>
              </a:ext>
            </a:extLst>
          </a:bodyPr>
          <a:p>
            <a:pPr indent="457200" algn="l"/>
            <a:r>
              <a:rPr lang="zh-CN" altLang="en-US" sz="2000">
                <a:latin typeface="Arial" panose="020B0604020202020204" pitchFamily="34" charset="0"/>
                <a:ea typeface="微软雅黑" panose="020B0503020204020204" pitchFamily="34" charset="-122"/>
              </a:rPr>
              <a:t>现实中的合规规则通常以自然语言形式存在。一条规则中可能同时包含行为、</a:t>
            </a:r>
            <a:r>
              <a:rPr lang="zh-CN" altLang="en-US" sz="2000">
                <a:latin typeface="Arial" panose="020B0604020202020204" pitchFamily="34" charset="0"/>
                <a:ea typeface="微软雅黑" panose="020B0503020204020204" pitchFamily="34" charset="-122"/>
              </a:rPr>
              <a:t>主体等多种语义信息。后续业务流程合规检查能否准确进行，很大程度上取决于这些信息能否被正确识别和表示。</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传统方法通常依赖人工设计规则、关键词或其他自然语言处理方法，从法规文本中提取合规信息。但面对表达方式复杂、包含条件和例外、不同规则结构差异较大的法规文本时，这类方法的适应能力存在一定限制。</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大语言模型具有较强的自然语言理解和结构化信息提取能力，因此可以尝试利用大语言模型直接对法规文本进行解析，将自然语言规则转换为统一的结构化规则表示。</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在本实验中，大语言模型主要用于法规解析阶段。解析得到的结构化规则随后输入业务流程合规检查模块，与流程模型中的活动、执行角色和流程结构等信息进行匹配，从而进一步检测缺失行为、错误执行者、错误执行顺序，以及禁止行为出现、条件未满足、约束违反、例外未处理等不同类型的违规情况。</a:t>
            </a:r>
            <a:endParaRPr lang="zh-CN" altLang="en-US" sz="2000">
              <a:latin typeface="Arial" panose="020B0604020202020204" pitchFamily="34" charset="0"/>
              <a:ea typeface="微软雅黑" panose="020B0503020204020204" pitchFamily="34" charset="-122"/>
            </a:endParaRPr>
          </a:p>
          <a:p>
            <a:pPr algn="l"/>
            <a:endParaRPr lang="en-US" altLang="zh-CN" sz="2000">
              <a:latin typeface="Arial" panose="020B0604020202020204" pitchFamily="34" charset="0"/>
              <a:ea typeface="微软雅黑" panose="020B0503020204020204" pitchFamily="34" charset="-122"/>
            </a:endParaRPr>
          </a:p>
          <a:p>
            <a:pPr indent="457200" algn="l"/>
            <a:r>
              <a:rPr lang="zh-CN" altLang="en-US" sz="2000">
                <a:latin typeface="Arial" panose="020B0604020202020204" pitchFamily="34" charset="0"/>
                <a:ea typeface="微软雅黑" panose="020B0503020204020204" pitchFamily="34" charset="-122"/>
              </a:rPr>
              <a:t>因此，本实验重点研究：相比传统规则解析方法，大语言模型能否更加准确、完整地理解自然语言法规，并进一步提升下游业务流程合规检查的效果。</a:t>
            </a:r>
            <a:endParaRPr lang="zh-CN" altLang="en-US" sz="20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87"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88"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89"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90" name="组合 31"/>
          <p:cNvGrpSpPr/>
          <p:nvPr>
            <p:custDataLst>
              <p:tags r:id="rId1"/>
            </p:custDataLst>
          </p:nvPr>
        </p:nvGrpSpPr>
        <p:grpSpPr>
          <a:xfrm>
            <a:off x="4334366" y="867211"/>
            <a:ext cx="6431043" cy="1134781"/>
            <a:chOff x="3781167" y="-569597"/>
            <a:chExt cx="7100675" cy="1134781"/>
          </a:xfrm>
        </p:grpSpPr>
        <p:sp>
          <p:nvSpPr>
            <p:cNvPr id="91" name="六边形 32"/>
            <p:cNvSpPr/>
            <p:nvPr>
              <p:custDataLst>
                <p:tags r:id="rId2"/>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92" name="六边形 37"/>
            <p:cNvSpPr/>
            <p:nvPr>
              <p:custDataLst>
                <p:tags r:id="rId3"/>
              </p:custDataLst>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93" name="组合 38"/>
            <p:cNvGrpSpPr/>
            <p:nvPr/>
          </p:nvGrpSpPr>
          <p:grpSpPr>
            <a:xfrm rot="16200000">
              <a:off x="4093035" y="-642392"/>
              <a:ext cx="1134781" cy="1280371"/>
              <a:chOff x="8439634" y="3544648"/>
              <a:chExt cx="1611146" cy="1817848"/>
            </a:xfrm>
          </p:grpSpPr>
          <p:sp>
            <p:nvSpPr>
              <p:cNvPr id="94" name="Freeform 5"/>
              <p:cNvSpPr/>
              <p:nvPr>
                <p:custDataLst>
                  <p:tags r:id="rId4"/>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95" name="Freeform 5"/>
              <p:cNvSpPr/>
              <p:nvPr>
                <p:custDataLst>
                  <p:tags r:id="rId5"/>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96" name="Rectangle 7"/>
            <p:cNvSpPr>
              <a:spLocks noChangeArrowheads="1"/>
            </p:cNvSpPr>
            <p:nvPr>
              <p:custDataLst>
                <p:tags r:id="rId6"/>
              </p:custDataLst>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97" name="组合 43"/>
          <p:cNvGrpSpPr/>
          <p:nvPr>
            <p:custDataLst>
              <p:tags r:id="rId7"/>
            </p:custDataLst>
          </p:nvPr>
        </p:nvGrpSpPr>
        <p:grpSpPr>
          <a:xfrm>
            <a:off x="4334364" y="2284232"/>
            <a:ext cx="6399716" cy="1134781"/>
            <a:chOff x="3781167" y="-569597"/>
            <a:chExt cx="7100675" cy="1134781"/>
          </a:xfrm>
        </p:grpSpPr>
        <p:sp>
          <p:nvSpPr>
            <p:cNvPr id="98" name="六边形 44"/>
            <p:cNvSpPr/>
            <p:nvPr>
              <p:custDataLst>
                <p:tags r:id="rId8"/>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99" name="六边形 48"/>
            <p:cNvSpPr/>
            <p:nvPr>
              <p:custDataLst>
                <p:tags r:id="rId9"/>
              </p:custDataLst>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00" name="组合 56"/>
            <p:cNvGrpSpPr/>
            <p:nvPr/>
          </p:nvGrpSpPr>
          <p:grpSpPr>
            <a:xfrm rot="16200000">
              <a:off x="4093035" y="-642392"/>
              <a:ext cx="1134781" cy="1280371"/>
              <a:chOff x="8439634" y="3544648"/>
              <a:chExt cx="1611146" cy="1817848"/>
            </a:xfrm>
          </p:grpSpPr>
          <p:sp>
            <p:nvSpPr>
              <p:cNvPr id="101" name="Freeform 5"/>
              <p:cNvSpPr/>
              <p:nvPr>
                <p:custDataLst>
                  <p:tags r:id="rId10"/>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02" name="Freeform 5"/>
              <p:cNvSpPr/>
              <p:nvPr>
                <p:custDataLst>
                  <p:tags r:id="rId11"/>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03" name="Rectangle 7"/>
            <p:cNvSpPr>
              <a:spLocks noChangeArrowheads="1"/>
            </p:cNvSpPr>
            <p:nvPr>
              <p:custDataLst>
                <p:tags r:id="rId12"/>
              </p:custDataLst>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04" name="组合 2"/>
          <p:cNvGrpSpPr/>
          <p:nvPr>
            <p:custDataLst>
              <p:tags r:id="rId13"/>
            </p:custDataLst>
          </p:nvPr>
        </p:nvGrpSpPr>
        <p:grpSpPr>
          <a:xfrm>
            <a:off x="4349602" y="3669367"/>
            <a:ext cx="6399717" cy="1134781"/>
            <a:chOff x="3781167" y="-569597"/>
            <a:chExt cx="7100675" cy="1134781"/>
          </a:xfrm>
        </p:grpSpPr>
        <p:sp>
          <p:nvSpPr>
            <p:cNvPr id="105" name="六边形 3"/>
            <p:cNvSpPr/>
            <p:nvPr>
              <p:custDataLst>
                <p:tags r:id="rId14"/>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06" name="六边形 4"/>
            <p:cNvSpPr/>
            <p:nvPr>
              <p:custDataLst>
                <p:tags r:id="rId15"/>
              </p:custDataLst>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07" name="组合 5"/>
            <p:cNvGrpSpPr/>
            <p:nvPr/>
          </p:nvGrpSpPr>
          <p:grpSpPr>
            <a:xfrm rot="16200000">
              <a:off x="4093035" y="-642392"/>
              <a:ext cx="1134781" cy="1280371"/>
              <a:chOff x="8439634" y="3544648"/>
              <a:chExt cx="1611146" cy="1817848"/>
            </a:xfrm>
          </p:grpSpPr>
          <p:sp>
            <p:nvSpPr>
              <p:cNvPr id="108" name="Freeform 5"/>
              <p:cNvSpPr/>
              <p:nvPr>
                <p:custDataLst>
                  <p:tags r:id="rId16"/>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09" name="Freeform 5"/>
              <p:cNvSpPr/>
              <p:nvPr>
                <p:custDataLst>
                  <p:tags r:id="rId17"/>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10" name="Rectangle 7"/>
            <p:cNvSpPr>
              <a:spLocks noChangeArrowheads="1"/>
            </p:cNvSpPr>
            <p:nvPr>
              <p:custDataLst>
                <p:tags r:id="rId18"/>
              </p:custDataLst>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11" name="组合 1"/>
          <p:cNvGrpSpPr/>
          <p:nvPr>
            <p:custDataLst>
              <p:tags r:id="rId19"/>
            </p:custDataLst>
          </p:nvPr>
        </p:nvGrpSpPr>
        <p:grpSpPr>
          <a:xfrm>
            <a:off x="4317856" y="5060435"/>
            <a:ext cx="6431044" cy="1134781"/>
            <a:chOff x="3781167" y="-569597"/>
            <a:chExt cx="7100676" cy="1134781"/>
          </a:xfrm>
        </p:grpSpPr>
        <p:sp>
          <p:nvSpPr>
            <p:cNvPr id="112" name="六边形 9"/>
            <p:cNvSpPr/>
            <p:nvPr>
              <p:custDataLst>
                <p:tags r:id="rId20"/>
              </p:custDataLst>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13" name="六边形 10"/>
            <p:cNvSpPr/>
            <p:nvPr>
              <p:custDataLst>
                <p:tags r:id="rId21"/>
              </p:custDataLst>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14" name="组合 11"/>
            <p:cNvGrpSpPr/>
            <p:nvPr/>
          </p:nvGrpSpPr>
          <p:grpSpPr>
            <a:xfrm rot="16200000">
              <a:off x="4093035" y="-642392"/>
              <a:ext cx="1134781" cy="1280371"/>
              <a:chOff x="8439634" y="3544648"/>
              <a:chExt cx="1611146" cy="1817848"/>
            </a:xfrm>
          </p:grpSpPr>
          <p:sp>
            <p:nvSpPr>
              <p:cNvPr id="115" name="Freeform 5"/>
              <p:cNvSpPr/>
              <p:nvPr>
                <p:custDataLst>
                  <p:tags r:id="rId22"/>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16" name="Freeform 5"/>
              <p:cNvSpPr/>
              <p:nvPr>
                <p:custDataLst>
                  <p:tags r:id="rId23"/>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17" name="Rectangle 7"/>
            <p:cNvSpPr>
              <a:spLocks noChangeArrowheads="1"/>
            </p:cNvSpPr>
            <p:nvPr>
              <p:custDataLst>
                <p:tags r:id="rId24"/>
              </p:custDataLst>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a:t>
            </a:r>
            <a:r>
              <a:rPr lang="zh-CN" altLang="en-US"/>
              <a:t>总览</a:t>
            </a:r>
            <a:endParaRPr lang="zh-CN" altLang="en-US"/>
          </a:p>
        </p:txBody>
      </p:sp>
      <p:pic>
        <p:nvPicPr>
          <p:cNvPr id="16" name="图片 15" descr="BPC.drawio"/>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380" y="691515"/>
            <a:ext cx="7536815" cy="5622925"/>
          </a:xfrm>
          <a:prstGeom prst="rect">
            <a:avLst/>
          </a:prstGeom>
        </p:spPr>
      </p:pic>
      <p:sp>
        <p:nvSpPr>
          <p:cNvPr id="17" name="文本框 16"/>
          <p:cNvSpPr txBox="1"/>
          <p:nvPr/>
        </p:nvSpPr>
        <p:spPr>
          <a:xfrm>
            <a:off x="7859395" y="1196975"/>
            <a:ext cx="4135120" cy="2535555"/>
          </a:xfrm>
          <a:prstGeom prst="rect">
            <a:avLst/>
          </a:prstGeom>
        </p:spPr>
        <p:txBody>
          <a:bodyPr wrap="square">
            <a:noAutofit/>
            <a:extLst>
              <a:ext uri="{4A0BC546-FE56-4ADE-93B0-CB8AF2F6F144}">
                <wpsdc:textFrameExt xmlns:wpsdc="http://www.wps.cn/officeDocument/2022/drawingmlCustomData" type="text"/>
              </a:ext>
            </a:extLst>
          </a:bodyPr>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Stage 1： </a:t>
            </a:r>
            <a:r>
              <a:rPr lang="zh-CN" altLang="en-US" sz="1800">
                <a:latin typeface="Arial" panose="020B0604020202020204" pitchFamily="34" charset="0"/>
                <a:ea typeface="微软雅黑" panose="020B0503020204020204" pitchFamily="34" charset="-122"/>
              </a:rPr>
              <a:t>解析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结构与标签语义，得到流程语义组件。</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b="1">
                <a:latin typeface="Arial" panose="020B0604020202020204" pitchFamily="34" charset="0"/>
                <a:ea typeface="微软雅黑" panose="020B0503020204020204" pitchFamily="34" charset="-122"/>
              </a:rPr>
              <a:t>Stage 2： </a:t>
            </a:r>
            <a:r>
              <a:rPr lang="zh-CN" altLang="en-US" sz="1800" b="1">
                <a:latin typeface="Arial" panose="020B0604020202020204" pitchFamily="34" charset="0"/>
                <a:ea typeface="微软雅黑" panose="020B0503020204020204" pitchFamily="34" charset="-122"/>
              </a:rPr>
              <a:t>利用 </a:t>
            </a:r>
            <a:r>
              <a:rPr lang="en-US" altLang="zh-CN" sz="1800" b="1">
                <a:latin typeface="Arial" panose="020B0604020202020204" pitchFamily="34" charset="0"/>
                <a:ea typeface="微软雅黑" panose="020B0503020204020204" pitchFamily="34" charset="-122"/>
              </a:rPr>
              <a:t>LLM </a:t>
            </a:r>
            <a:r>
              <a:rPr lang="zh-CN" altLang="en-US" sz="1800" b="1">
                <a:latin typeface="Arial" panose="020B0604020202020204" pitchFamily="34" charset="0"/>
                <a:ea typeface="微软雅黑" panose="020B0503020204020204" pitchFamily="34" charset="-122"/>
              </a:rPr>
              <a:t>将自然语言法规转换为结构化 </a:t>
            </a:r>
            <a:r>
              <a:rPr lang="en-US" altLang="zh-CN" sz="1800" b="1">
                <a:latin typeface="Arial" panose="020B0604020202020204" pitchFamily="34" charset="0"/>
                <a:ea typeface="微软雅黑" panose="020B0503020204020204" pitchFamily="34" charset="-122"/>
              </a:rPr>
              <a:t>Rule Record。</a:t>
            </a:r>
            <a:endParaRPr lang="en-US" altLang="zh-CN" sz="1800" b="1">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匹配流程与规则，并检测 3 类基础违规与 </a:t>
            </a:r>
            <a:r>
              <a:rPr lang="zh-CN" altLang="en-US" sz="1800" b="1">
                <a:latin typeface="Arial" panose="020B0604020202020204" pitchFamily="34" charset="0"/>
                <a:ea typeface="微软雅黑" panose="020B0503020204020204" pitchFamily="34" charset="-122"/>
              </a:rPr>
              <a:t>4 类扩展违规</a:t>
            </a:r>
            <a:r>
              <a:rPr lang="zh-CN" altLang="en-US" sz="1800">
                <a:latin typeface="Arial" panose="020B0604020202020204" pitchFamily="34" charset="0"/>
                <a:ea typeface="微软雅黑" panose="020B0503020204020204" pitchFamily="34" charset="-122"/>
              </a:rPr>
              <a:t>。</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1：Process Model Disassembly</a:t>
            </a:r>
            <a:endParaRPr lang="en-US" altLang="zh-CN"/>
          </a:p>
        </p:txBody>
      </p:sp>
      <p:sp>
        <p:nvSpPr>
          <p:cNvPr id="4" name="文本框 3"/>
          <p:cNvSpPr txBox="1"/>
          <p:nvPr/>
        </p:nvSpPr>
        <p:spPr>
          <a:xfrm>
            <a:off x="0" y="6093460"/>
            <a:ext cx="3676650" cy="19431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200">
                <a:solidFill>
                  <a:schemeClr val="tx1">
                    <a:lumMod val="65000"/>
                    <a:lumOff val="35000"/>
                  </a:schemeClr>
                </a:solidFill>
                <a:latin typeface="Arial" panose="020B0604020202020204" pitchFamily="34" charset="0"/>
                <a:ea typeface="微软雅黑" panose="020B0503020204020204" pitchFamily="34" charset="-122"/>
              </a:rPr>
              <a:t>本阶段沿用 </a:t>
            </a:r>
            <a:r>
              <a:rPr lang="en-US" altLang="zh-CN" sz="1200">
                <a:solidFill>
                  <a:schemeClr val="tx1">
                    <a:lumMod val="65000"/>
                    <a:lumOff val="35000"/>
                  </a:schemeClr>
                </a:solidFill>
                <a:latin typeface="Arial" panose="020B0604020202020204" pitchFamily="34" charset="0"/>
                <a:ea typeface="微软雅黑" panose="020B0503020204020204" pitchFamily="34" charset="-122"/>
              </a:rPr>
              <a:t>Sun et al. (2024) </a:t>
            </a:r>
            <a:r>
              <a:rPr lang="zh-CN" altLang="en-US" sz="1200">
                <a:solidFill>
                  <a:schemeClr val="tx1">
                    <a:lumMod val="65000"/>
                    <a:lumOff val="35000"/>
                  </a:schemeClr>
                </a:solidFill>
                <a:latin typeface="Arial" panose="020B0604020202020204" pitchFamily="34" charset="0"/>
                <a:ea typeface="微软雅黑" panose="020B0503020204020204" pitchFamily="34" charset="-122"/>
              </a:rPr>
              <a:t>的流程模型拆解方法。</a:t>
            </a:r>
            <a:endParaRPr lang="zh-CN" altLang="en-US" sz="120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47625" y="793750"/>
            <a:ext cx="6894830" cy="2527935"/>
          </a:xfrm>
          <a:prstGeom prst="rect">
            <a:avLst/>
          </a:prstGeom>
        </p:spPr>
      </p:pic>
      <p:sp>
        <p:nvSpPr>
          <p:cNvPr id="6" name="文本框 5"/>
          <p:cNvSpPr txBox="1"/>
          <p:nvPr/>
        </p:nvSpPr>
        <p:spPr>
          <a:xfrm>
            <a:off x="6948805" y="861695"/>
            <a:ext cx="5226685" cy="2090420"/>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① 结构信息提取</a:t>
            </a:r>
            <a:endParaRPr lang="zh-CN" altLang="en-US" sz="1800">
              <a:latin typeface="Arial" panose="020B0604020202020204" pitchFamily="34" charset="0"/>
              <a:ea typeface="微软雅黑" panose="020B0503020204020204" pitchFamily="34" charset="-122"/>
            </a:endParaRPr>
          </a:p>
          <a:p>
            <a:pPr algn="l"/>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从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模型中直接解析 </a:t>
            </a:r>
            <a:r>
              <a:rPr lang="en-US" altLang="zh-CN" sz="1800">
                <a:latin typeface="Arial" panose="020B0604020202020204" pitchFamily="34" charset="0"/>
                <a:ea typeface="微软雅黑" panose="020B0503020204020204" pitchFamily="34" charset="-122"/>
              </a:rPr>
              <a:t>Activity、Event、Gateway、Pool/Lane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Control Flow </a:t>
            </a:r>
            <a:r>
              <a:rPr lang="zh-CN" altLang="en-US" sz="1800">
                <a:latin typeface="Arial" panose="020B0604020202020204" pitchFamily="34" charset="0"/>
                <a:ea typeface="微软雅黑" panose="020B0503020204020204" pitchFamily="34" charset="-122"/>
              </a:rPr>
              <a:t>等结构信息。</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这些信息主要由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模型本身显式给出，可直接从模型结构中获取。</a:t>
            </a:r>
            <a:endParaRPr lang="zh-CN" altLang="en-US" sz="1800">
              <a:latin typeface="Arial" panose="020B0604020202020204" pitchFamily="34" charset="0"/>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0" y="3599180"/>
            <a:ext cx="7044055" cy="2108835"/>
          </a:xfrm>
          <a:prstGeom prst="rect">
            <a:avLst/>
          </a:prstGeom>
        </p:spPr>
      </p:pic>
      <p:sp>
        <p:nvSpPr>
          <p:cNvPr id="8" name="文本框 7"/>
          <p:cNvSpPr txBox="1"/>
          <p:nvPr/>
        </p:nvSpPr>
        <p:spPr>
          <a:xfrm>
            <a:off x="6948805" y="3122295"/>
            <a:ext cx="5233035" cy="1195705"/>
          </a:xfrm>
          <a:prstGeom prst="rect">
            <a:avLst/>
          </a:prstGeom>
        </p:spPr>
        <p:txBody>
          <a:bodyPr>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② 标签语义解析</a:t>
            </a:r>
            <a:endParaRPr lang="zh-CN" altLang="en-US" sz="1800">
              <a:latin typeface="Arial" panose="020B0604020202020204" pitchFamily="34" charset="0"/>
              <a:ea typeface="微软雅黑" panose="020B0503020204020204" pitchFamily="34" charset="-122"/>
            </a:endParaRPr>
          </a:p>
          <a:p>
            <a:pPr algn="l"/>
            <a:r>
              <a:rPr lang="en-US" altLang="zh-CN" sz="1800">
                <a:latin typeface="Arial" panose="020B0604020202020204" pitchFamily="34" charset="0"/>
                <a:ea typeface="微软雅黑" panose="020B0503020204020204" pitchFamily="34" charset="-122"/>
              </a:rPr>
              <a:t>Activity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Event </a:t>
            </a:r>
            <a:r>
              <a:rPr lang="zh-CN" altLang="en-US" sz="1800">
                <a:latin typeface="Arial" panose="020B0604020202020204" pitchFamily="34" charset="0"/>
                <a:ea typeface="微软雅黑" panose="020B0503020204020204" pitchFamily="34" charset="-122"/>
              </a:rPr>
              <a:t>的标签通常只是简短文本，不能直接得到其业务语义，因此需要进一步解析。</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从标签中进一步提取 </a:t>
            </a:r>
            <a:r>
              <a:rPr lang="en-US" altLang="zh-CN" sz="1800">
                <a:latin typeface="Arial" panose="020B0604020202020204" pitchFamily="34" charset="0"/>
                <a:ea typeface="微软雅黑" panose="020B0503020204020204" pitchFamily="34" charset="-122"/>
              </a:rPr>
              <a:t>Action </a:t>
            </a:r>
            <a:r>
              <a:rPr lang="zh-CN" altLang="en-US" sz="1800">
                <a:latin typeface="Arial" panose="020B0604020202020204" pitchFamily="34" charset="0"/>
                <a:ea typeface="微软雅黑" panose="020B0503020204020204" pitchFamily="34" charset="-122"/>
              </a:rPr>
              <a:t>和 </a:t>
            </a:r>
            <a:r>
              <a:rPr lang="en-US" altLang="zh-CN" sz="1800">
                <a:latin typeface="Arial" panose="020B0604020202020204" pitchFamily="34" charset="0"/>
                <a:ea typeface="微软雅黑" panose="020B0503020204020204" pitchFamily="34" charset="-122"/>
              </a:rPr>
              <a:t>Business Object。</a:t>
            </a:r>
            <a:endParaRPr lang="en-US" altLang="zh-CN" sz="1800">
              <a:latin typeface="Arial" panose="020B0604020202020204" pitchFamily="34" charset="0"/>
              <a:ea typeface="微软雅黑" panose="020B0503020204020204" pitchFamily="34" charset="-122"/>
            </a:endParaRPr>
          </a:p>
          <a:p>
            <a:pPr algn="l"/>
            <a:endParaRPr lang="en-US" altLang="zh-CN" sz="1800">
              <a:latin typeface="Arial" panose="020B0604020202020204" pitchFamily="34" charset="0"/>
              <a:ea typeface="微软雅黑" panose="020B0503020204020204" pitchFamily="34" charset="-122"/>
            </a:endParaRPr>
          </a:p>
        </p:txBody>
      </p:sp>
      <p:sp>
        <p:nvSpPr>
          <p:cNvPr id="9" name="文本框 8"/>
          <p:cNvSpPr txBox="1"/>
          <p:nvPr/>
        </p:nvSpPr>
        <p:spPr>
          <a:xfrm>
            <a:off x="6960235" y="4796790"/>
            <a:ext cx="4875530" cy="123317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③ 构建流程语义表示</a:t>
            </a:r>
            <a:endParaRPr lang="zh-CN" altLang="en-US"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将 </a:t>
            </a:r>
            <a:r>
              <a:rPr lang="en-US" altLang="zh-CN" sz="1800">
                <a:latin typeface="Arial" panose="020B0604020202020204" pitchFamily="34" charset="0"/>
                <a:ea typeface="微软雅黑" panose="020B0503020204020204" pitchFamily="34" charset="-122"/>
              </a:rPr>
              <a:t>BPMN </a:t>
            </a:r>
            <a:r>
              <a:rPr lang="zh-CN" altLang="en-US" sz="1800">
                <a:latin typeface="Arial" panose="020B0604020202020204" pitchFamily="34" charset="0"/>
                <a:ea typeface="微软雅黑" panose="020B0503020204020204" pitchFamily="34" charset="-122"/>
              </a:rPr>
              <a:t>的结构信息与标签解析得到的语义信息进行整合，形成统一的流程语义表示。作为 </a:t>
            </a: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规则匹配与违规检测的流程侧输入。</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fontScale="90000"/>
          </a:bodyPr>
          <a:p>
            <a:r>
              <a:rPr lang="zh-CN" altLang="en-US" sz="3110"/>
              <a:t>方法</a:t>
            </a:r>
            <a:r>
              <a:rPr lang="en-US" altLang="zh-CN" sz="3110"/>
              <a:t>-Stage 2 </a:t>
            </a:r>
            <a:r>
              <a:rPr lang="zh-CN" altLang="en-US" sz="3110"/>
              <a:t>总览</a:t>
            </a:r>
            <a:r>
              <a:rPr lang="en-US" altLang="zh-CN" sz="3110"/>
              <a:t>: Direct-LLM Regulatory Parsing</a:t>
            </a:r>
            <a:endParaRPr lang="en-US" altLang="zh-CN" sz="3110"/>
          </a:p>
        </p:txBody>
      </p:sp>
      <p:sp>
        <p:nvSpPr>
          <p:cNvPr id="7" name="文本框 6"/>
          <p:cNvSpPr txBox="1"/>
          <p:nvPr/>
        </p:nvSpPr>
        <p:spPr>
          <a:xfrm>
            <a:off x="157480" y="5373370"/>
            <a:ext cx="11786870"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利用 </a:t>
            </a:r>
            <a:r>
              <a:rPr lang="en-US" altLang="zh-CN" sz="1800">
                <a:latin typeface="Arial" panose="020B0604020202020204" pitchFamily="34" charset="0"/>
                <a:ea typeface="微软雅黑" panose="020B0503020204020204" pitchFamily="34" charset="-122"/>
              </a:rPr>
              <a:t>LLM </a:t>
            </a:r>
            <a:r>
              <a:rPr lang="zh-CN" altLang="en-US" sz="1800">
                <a:latin typeface="Arial" panose="020B0604020202020204" pitchFamily="34" charset="0"/>
                <a:ea typeface="微软雅黑" panose="020B0503020204020204" pitchFamily="34" charset="-122"/>
              </a:rPr>
              <a:t>完成法规语义解析，并通过确定性 </a:t>
            </a:r>
            <a:r>
              <a:rPr lang="en-US" altLang="zh-CN" sz="1800">
                <a:latin typeface="Arial" panose="020B0604020202020204" pitchFamily="34" charset="0"/>
                <a:ea typeface="微软雅黑" panose="020B0503020204020204" pitchFamily="34" charset="-122"/>
              </a:rPr>
              <a:t>Grounding </a:t>
            </a:r>
            <a:r>
              <a:rPr lang="zh-CN" altLang="en-US" sz="1800">
                <a:latin typeface="Arial" panose="020B0604020202020204" pitchFamily="34" charset="0"/>
                <a:ea typeface="微软雅黑" panose="020B0503020204020204" pitchFamily="34" charset="-122"/>
              </a:rPr>
              <a:t>与 </a:t>
            </a:r>
            <a:r>
              <a:rPr lang="en-US" altLang="zh-CN" sz="1800">
                <a:latin typeface="Arial" panose="020B0604020202020204" pitchFamily="34" charset="0"/>
                <a:ea typeface="微软雅黑" panose="020B0503020204020204" pitchFamily="34" charset="-122"/>
              </a:rPr>
              <a:t>Canonical Validation </a:t>
            </a:r>
            <a:r>
              <a:rPr lang="zh-CN" altLang="en-US" sz="1800">
                <a:latin typeface="Arial" panose="020B0604020202020204" pitchFamily="34" charset="0"/>
                <a:ea typeface="微软雅黑" panose="020B0503020204020204" pitchFamily="34" charset="-122"/>
              </a:rPr>
              <a:t>将生成结果约束为可验证、可用于 </a:t>
            </a: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的规则表示。</a:t>
            </a:r>
            <a:endParaRPr lang="zh-CN" altLang="en-US" sz="1800">
              <a:latin typeface="Arial" panose="020B0604020202020204" pitchFamily="34" charset="0"/>
              <a:ea typeface="微软雅黑" panose="020B0503020204020204" pitchFamily="34" charset="-122"/>
            </a:endParaRPr>
          </a:p>
        </p:txBody>
      </p:sp>
      <p:pic>
        <p:nvPicPr>
          <p:cNvPr id="9" name="图片 8" descr="stage2"/>
          <p:cNvPicPr>
            <a:picLocks noChangeAspect="1"/>
          </p:cNvPicPr>
          <p:nvPr/>
        </p:nvPicPr>
        <p:blipFill>
          <a:blip r:embed="rId1"/>
          <a:stretch>
            <a:fillRect/>
          </a:stretch>
        </p:blipFill>
        <p:spPr>
          <a:xfrm>
            <a:off x="695325" y="692785"/>
            <a:ext cx="10985500" cy="4707255"/>
          </a:xfrm>
          <a:prstGeom prst="rect">
            <a:avLst/>
          </a:prstGeom>
        </p:spPr>
      </p:pic>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2.1：Prompt Assembly</a:t>
            </a:r>
            <a:endParaRPr lang="en-US" altLang="zh-CN"/>
          </a:p>
        </p:txBody>
      </p:sp>
      <p:pic>
        <p:nvPicPr>
          <p:cNvPr id="4" name="图片 3" descr="caa7594bf1f60be5536880c59394f68b"/>
          <p:cNvPicPr>
            <a:picLocks noChangeAspect="1"/>
          </p:cNvPicPr>
          <p:nvPr/>
        </p:nvPicPr>
        <p:blipFill>
          <a:blip r:embed="rId1"/>
          <a:stretch>
            <a:fillRect/>
          </a:stretch>
        </p:blipFill>
        <p:spPr>
          <a:xfrm>
            <a:off x="0" y="692785"/>
            <a:ext cx="6012180" cy="5687695"/>
          </a:xfrm>
          <a:prstGeom prst="rect">
            <a:avLst/>
          </a:prstGeom>
        </p:spPr>
      </p:pic>
      <p:sp>
        <p:nvSpPr>
          <p:cNvPr id="5" name="文本框 4"/>
          <p:cNvSpPr txBox="1"/>
          <p:nvPr/>
        </p:nvSpPr>
        <p:spPr>
          <a:xfrm>
            <a:off x="6167755" y="908685"/>
            <a:ext cx="5858510" cy="154940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Field Definitions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明确六类法规语义及字段边界</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Modality / Actor / Acti</a:t>
            </a:r>
            <a:r>
              <a:rPr lang="en-US" altLang="zh-CN" sz="1800">
                <a:latin typeface="Arial" panose="020B0604020202020204" pitchFamily="34" charset="0"/>
                <a:ea typeface="微软雅黑" panose="020B0503020204020204" pitchFamily="34" charset="-122"/>
              </a:rPr>
              <a:t>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Condition / Constraint / Exception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减少跨字段混淆与错误合并</a:t>
            </a:r>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6167755" y="2734310"/>
            <a:ext cx="5857875" cy="155003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Output Contract</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规定统一的结构化输出形式</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固定 </a:t>
            </a:r>
            <a:r>
              <a:rPr lang="en-US" altLang="zh-CN" sz="1800">
                <a:latin typeface="Arial" panose="020B0604020202020204" pitchFamily="34" charset="0"/>
                <a:ea typeface="微软雅黑" panose="020B0503020204020204" pitchFamily="34" charset="-122"/>
              </a:rPr>
              <a:t>canonical JSON </a:t>
            </a:r>
            <a:r>
              <a:rPr lang="zh-CN" altLang="en-US" sz="1800">
                <a:latin typeface="Arial" panose="020B0604020202020204" pitchFamily="34" charset="0"/>
                <a:ea typeface="微软雅黑" panose="020B0503020204020204" pitchFamily="34" charset="-122"/>
              </a:rPr>
              <a:t>字段与枚举</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Evidence </a:t>
            </a:r>
            <a:r>
              <a:rPr lang="zh-CN" altLang="en-US" sz="1800">
                <a:latin typeface="Arial" panose="020B0604020202020204" pitchFamily="34" charset="0"/>
                <a:ea typeface="微软雅黑" panose="020B0503020204020204" pitchFamily="34" charset="-122"/>
              </a:rPr>
              <a:t>保留 </a:t>
            </a:r>
            <a:r>
              <a:rPr lang="en-US" altLang="zh-CN" sz="1800">
                <a:latin typeface="Arial" panose="020B0604020202020204" pitchFamily="34" charset="0"/>
                <a:ea typeface="微软雅黑" panose="020B0503020204020204" pitchFamily="34" charset="-122"/>
              </a:rPr>
              <a:t>text / start / 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Relation </a:t>
            </a:r>
            <a:r>
              <a:rPr lang="zh-CN" altLang="en-US" sz="1800">
                <a:latin typeface="Arial" panose="020B0604020202020204" pitchFamily="34" charset="0"/>
                <a:ea typeface="微软雅黑" panose="020B0503020204020204" pitchFamily="34" charset="-122"/>
              </a:rPr>
              <a:t>通过合法 </a:t>
            </a:r>
            <a:r>
              <a:rPr lang="en-US" altLang="zh-CN" sz="1800">
                <a:latin typeface="Arial" panose="020B0604020202020204" pitchFamily="34" charset="0"/>
                <a:ea typeface="微软雅黑" panose="020B0503020204020204" pitchFamily="34" charset="-122"/>
              </a:rPr>
              <a:t>ID </a:t>
            </a:r>
            <a:r>
              <a:rPr lang="zh-CN" altLang="en-US" sz="1800">
                <a:latin typeface="Arial" panose="020B0604020202020204" pitchFamily="34" charset="0"/>
                <a:ea typeface="微软雅黑" panose="020B0503020204020204" pitchFamily="34" charset="-122"/>
              </a:rPr>
              <a:t>建立引用</a:t>
            </a:r>
            <a:endParaRPr lang="zh-CN" altLang="en-US" sz="1800">
              <a:latin typeface="Arial" panose="020B0604020202020204" pitchFamily="34" charset="0"/>
              <a:ea typeface="微软雅黑" panose="020B0503020204020204" pitchFamily="34" charset="-122"/>
            </a:endParaRPr>
          </a:p>
        </p:txBody>
      </p:sp>
      <p:sp>
        <p:nvSpPr>
          <p:cNvPr id="7" name="文本框 6"/>
          <p:cNvSpPr txBox="1"/>
          <p:nvPr/>
        </p:nvSpPr>
        <p:spPr>
          <a:xfrm>
            <a:off x="6167755" y="4725035"/>
            <a:ext cx="5858510" cy="154876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Gold-blind Few-shot</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用合成示例展示目标抽取方式</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覆盖复杂及低频语义结构</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示范字段划分、</a:t>
            </a:r>
            <a:r>
              <a:rPr lang="en-US" altLang="zh-CN" sz="1800">
                <a:latin typeface="Arial" panose="020B0604020202020204" pitchFamily="34" charset="0"/>
                <a:ea typeface="微软雅黑" panose="020B0503020204020204" pitchFamily="34" charset="-122"/>
              </a:rPr>
              <a:t>span </a:t>
            </a:r>
            <a:r>
              <a:rPr lang="zh-CN" altLang="en-US" sz="1800">
                <a:latin typeface="Arial" panose="020B0604020202020204" pitchFamily="34" charset="0"/>
                <a:ea typeface="微软雅黑" panose="020B0503020204020204" pitchFamily="34" charset="-122"/>
              </a:rPr>
              <a:t>与 </a:t>
            </a:r>
            <a:r>
              <a:rPr lang="en-US" altLang="zh-CN" sz="1800">
                <a:latin typeface="Arial" panose="020B0604020202020204" pitchFamily="34" charset="0"/>
                <a:ea typeface="微软雅黑" panose="020B0503020204020204" pitchFamily="34" charset="-122"/>
              </a:rPr>
              <a:t>JSON shape</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不使用测试集 </a:t>
            </a:r>
            <a:r>
              <a:rPr lang="en-US" altLang="zh-CN" sz="1800">
                <a:latin typeface="Arial" panose="020B0604020202020204" pitchFamily="34" charset="0"/>
                <a:ea typeface="微软雅黑" panose="020B0503020204020204" pitchFamily="34" charset="-122"/>
              </a:rPr>
              <a:t>Gold，</a:t>
            </a:r>
            <a:r>
              <a:rPr lang="zh-CN" altLang="en-US" sz="1800">
                <a:latin typeface="Arial" panose="020B0604020202020204" pitchFamily="34" charset="0"/>
                <a:ea typeface="微软雅黑" panose="020B0503020204020204" pitchFamily="34" charset="-122"/>
              </a:rPr>
              <a:t>避免信息泄漏</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2.2：LLM Semantic Parsing</a:t>
            </a:r>
            <a:endParaRPr lang="en-US" altLang="zh-CN"/>
          </a:p>
        </p:txBody>
      </p:sp>
      <p:pic>
        <p:nvPicPr>
          <p:cNvPr id="4" name="图片 3" descr="86a52bfe6e87381621295be1d2643548"/>
          <p:cNvPicPr>
            <a:picLocks noChangeAspect="1"/>
          </p:cNvPicPr>
          <p:nvPr/>
        </p:nvPicPr>
        <p:blipFill>
          <a:blip r:embed="rId1"/>
          <a:stretch>
            <a:fillRect/>
          </a:stretch>
        </p:blipFill>
        <p:spPr>
          <a:xfrm>
            <a:off x="47625" y="691515"/>
            <a:ext cx="5960110" cy="5669280"/>
          </a:xfrm>
          <a:prstGeom prst="rect">
            <a:avLst/>
          </a:prstGeom>
        </p:spPr>
      </p:pic>
      <p:sp>
        <p:nvSpPr>
          <p:cNvPr id="8" name="文本框 7"/>
          <p:cNvSpPr txBox="1"/>
          <p:nvPr/>
        </p:nvSpPr>
        <p:spPr>
          <a:xfrm>
            <a:off x="6167755" y="908685"/>
            <a:ext cx="5960110" cy="150812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Semantic Elements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识别法规中的核心语义成分</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六要素：</a:t>
            </a:r>
            <a:r>
              <a:rPr lang="en-US" altLang="zh-CN" sz="1800">
                <a:latin typeface="Arial" panose="020B0604020202020204" pitchFamily="34" charset="0"/>
                <a:ea typeface="微软雅黑" panose="020B0503020204020204" pitchFamily="34" charset="-122"/>
              </a:rPr>
              <a:t>Modality / Actor / Action / Condition / Constraint / Exception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将自然语言法规拆解为结构化语义字段</a:t>
            </a:r>
            <a:endParaRPr lang="zh-CN" altLang="en-US" sz="1800">
              <a:latin typeface="Arial" panose="020B0604020202020204" pitchFamily="34" charset="0"/>
              <a:ea typeface="微软雅黑" panose="020B0503020204020204" pitchFamily="34" charset="-122"/>
            </a:endParaRPr>
          </a:p>
        </p:txBody>
      </p:sp>
      <p:sp>
        <p:nvSpPr>
          <p:cNvPr id="9" name="文本框 8"/>
          <p:cNvSpPr txBox="1"/>
          <p:nvPr/>
        </p:nvSpPr>
        <p:spPr>
          <a:xfrm>
            <a:off x="6165850" y="2493010"/>
            <a:ext cx="5961380" cy="125920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Evidence Spans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为抽取结果保留原文证据</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每个字段返回 </a:t>
            </a:r>
            <a:r>
              <a:rPr lang="en-US" altLang="zh-CN" sz="1800">
                <a:latin typeface="Arial" panose="020B0604020202020204" pitchFamily="34" charset="0"/>
                <a:ea typeface="微软雅黑" panose="020B0503020204020204" pitchFamily="34" charset="-122"/>
              </a:rPr>
              <a:t>text / start / 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使结果能够回指原始 </a:t>
            </a:r>
            <a:r>
              <a:rPr lang="en-US" altLang="zh-CN" sz="1800">
                <a:latin typeface="Arial" panose="020B0604020202020204" pitchFamily="34" charset="0"/>
                <a:ea typeface="微软雅黑" panose="020B0503020204020204" pitchFamily="34" charset="-122"/>
              </a:rPr>
              <a:t>source_text</a:t>
            </a:r>
            <a:endParaRPr lang="en-US" altLang="zh-CN" sz="1800">
              <a:latin typeface="Arial" panose="020B0604020202020204" pitchFamily="34" charset="0"/>
              <a:ea typeface="微软雅黑" panose="020B0503020204020204" pitchFamily="34" charset="-122"/>
            </a:endParaRPr>
          </a:p>
        </p:txBody>
      </p:sp>
      <p:sp>
        <p:nvSpPr>
          <p:cNvPr id="10" name="文本框 9"/>
          <p:cNvSpPr txBox="1"/>
          <p:nvPr/>
        </p:nvSpPr>
        <p:spPr>
          <a:xfrm>
            <a:off x="6160770" y="3860800"/>
            <a:ext cx="6031230" cy="128079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Relations</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建立字段之间的语义关系</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Actor-Action Map：</a:t>
            </a:r>
            <a:r>
              <a:rPr lang="zh-CN" altLang="en-US" sz="1800">
                <a:latin typeface="Arial" panose="020B0604020202020204" pitchFamily="34" charset="0"/>
                <a:ea typeface="微软雅黑" panose="020B0503020204020204" pitchFamily="34" charset="-122"/>
              </a:rPr>
              <a:t>主体与行为的对应关系</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Order Relations：</a:t>
            </a:r>
            <a:r>
              <a:rPr lang="zh-CN" altLang="en-US" sz="1800">
                <a:latin typeface="Arial" panose="020B0604020202020204" pitchFamily="34" charset="0"/>
                <a:ea typeface="微软雅黑" panose="020B0503020204020204" pitchFamily="34" charset="-122"/>
              </a:rPr>
              <a:t>动作之间的先后关系</a:t>
            </a:r>
            <a:endParaRPr lang="zh-CN" altLang="en-US" sz="1800">
              <a:latin typeface="Arial" panose="020B0604020202020204" pitchFamily="34" charset="0"/>
              <a:ea typeface="微软雅黑" panose="020B0503020204020204" pitchFamily="34" charset="-122"/>
            </a:endParaRPr>
          </a:p>
        </p:txBody>
      </p:sp>
      <p:sp>
        <p:nvSpPr>
          <p:cNvPr id="11" name="文本框 10"/>
          <p:cNvSpPr txBox="1"/>
          <p:nvPr/>
        </p:nvSpPr>
        <p:spPr>
          <a:xfrm>
            <a:off x="6160770" y="5177155"/>
            <a:ext cx="5967095" cy="118364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④ Candidate Record</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汇总 </a:t>
            </a:r>
            <a:r>
              <a:rPr lang="en-US" altLang="zh-CN" sz="1800">
                <a:latin typeface="Arial" panose="020B0604020202020204" pitchFamily="34" charset="0"/>
                <a:ea typeface="微软雅黑" panose="020B0503020204020204" pitchFamily="34" charset="-122"/>
              </a:rPr>
              <a:t>LLM </a:t>
            </a:r>
            <a:r>
              <a:rPr lang="zh-CN" altLang="en-US" sz="1800">
                <a:latin typeface="Arial" panose="020B0604020202020204" pitchFamily="34" charset="0"/>
                <a:ea typeface="微软雅黑" panose="020B0503020204020204" pitchFamily="34" charset="-122"/>
              </a:rPr>
              <a:t>的结构化解析结果</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整合 </a:t>
            </a:r>
            <a:r>
              <a:rPr lang="en-US" altLang="zh-CN" sz="1800">
                <a:latin typeface="Arial" panose="020B0604020202020204" pitchFamily="34" charset="0"/>
                <a:ea typeface="微软雅黑" panose="020B0503020204020204" pitchFamily="34" charset="-122"/>
              </a:rPr>
              <a:t>Elements / Evidence / Relations</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作为后续 </a:t>
            </a:r>
            <a:r>
              <a:rPr lang="en-US" altLang="zh-CN" sz="1800">
                <a:latin typeface="Arial" panose="020B0604020202020204" pitchFamily="34" charset="0"/>
                <a:ea typeface="微软雅黑" panose="020B0503020204020204" pitchFamily="34" charset="-122"/>
              </a:rPr>
              <a:t>Canonical Validation </a:t>
            </a:r>
            <a:r>
              <a:rPr lang="zh-CN" altLang="en-US" sz="1800">
                <a:latin typeface="Arial" panose="020B0604020202020204" pitchFamily="34" charset="0"/>
                <a:ea typeface="微软雅黑" panose="020B0503020204020204" pitchFamily="34" charset="-122"/>
              </a:rPr>
              <a:t>的输入</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方法</a:t>
            </a:r>
            <a:r>
              <a:rPr lang="en-US" altLang="zh-CN"/>
              <a:t>-Stage 2.3：Grounding &amp; Canonicalization</a:t>
            </a:r>
            <a:endParaRPr lang="en-US" altLang="zh-CN"/>
          </a:p>
        </p:txBody>
      </p:sp>
      <p:pic>
        <p:nvPicPr>
          <p:cNvPr id="4" name="图片 3" descr="5da960a74a0bf9f90ee8430e84d51e34"/>
          <p:cNvPicPr>
            <a:picLocks noChangeAspect="1"/>
          </p:cNvPicPr>
          <p:nvPr/>
        </p:nvPicPr>
        <p:blipFill>
          <a:blip r:embed="rId1"/>
          <a:stretch>
            <a:fillRect/>
          </a:stretch>
        </p:blipFill>
        <p:spPr>
          <a:xfrm>
            <a:off x="47625" y="691515"/>
            <a:ext cx="5629910" cy="5704840"/>
          </a:xfrm>
          <a:prstGeom prst="rect">
            <a:avLst/>
          </a:prstGeom>
        </p:spPr>
      </p:pic>
      <p:sp>
        <p:nvSpPr>
          <p:cNvPr id="5" name="文本框 4"/>
          <p:cNvSpPr txBox="1"/>
          <p:nvPr/>
        </p:nvSpPr>
        <p:spPr>
          <a:xfrm>
            <a:off x="5704205" y="908685"/>
            <a:ext cx="6185535" cy="159639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① Span Re-anchor</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将 </a:t>
            </a:r>
            <a:r>
              <a:rPr lang="en-US" altLang="zh-CN" sz="1800">
                <a:latin typeface="Arial" panose="020B0604020202020204" pitchFamily="34" charset="0"/>
                <a:ea typeface="微软雅黑" panose="020B0503020204020204" pitchFamily="34" charset="-122"/>
              </a:rPr>
              <a:t>Evidence </a:t>
            </a:r>
            <a:r>
              <a:rPr lang="zh-CN" altLang="en-US" sz="1800">
                <a:latin typeface="Arial" panose="020B0604020202020204" pitchFamily="34" charset="0"/>
                <a:ea typeface="微软雅黑" panose="020B0503020204020204" pitchFamily="34" charset="-122"/>
              </a:rPr>
              <a:t>精确对齐到法规原文</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text </a:t>
            </a:r>
            <a:r>
              <a:rPr lang="zh-CN" altLang="en-US" sz="1800">
                <a:latin typeface="Arial" panose="020B0604020202020204" pitchFamily="34" charset="0"/>
                <a:ea typeface="微软雅黑" panose="020B0503020204020204" pitchFamily="34" charset="-122"/>
              </a:rPr>
              <a:t>是否对应 </a:t>
            </a:r>
            <a:r>
              <a:rPr lang="en-US" altLang="zh-CN" sz="1800">
                <a:latin typeface="Arial" panose="020B0604020202020204" pitchFamily="34" charset="0"/>
                <a:ea typeface="微软雅黑" panose="020B0503020204020204" pitchFamily="34" charset="-122"/>
              </a:rPr>
              <a:t>source_text[start:end]</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坐标偏移时，仅在唯一精确匹配下重新定位</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不使用模糊匹配或语义猜测</a:t>
            </a:r>
            <a:endParaRPr lang="zh-CN" altLang="en-US" sz="1800">
              <a:latin typeface="Arial" panose="020B0604020202020204" pitchFamily="34" charset="0"/>
              <a:ea typeface="微软雅黑" panose="020B0503020204020204" pitchFamily="34" charset="-122"/>
            </a:endParaRPr>
          </a:p>
        </p:txBody>
      </p:sp>
      <p:sp>
        <p:nvSpPr>
          <p:cNvPr id="6" name="文本框 5"/>
          <p:cNvSpPr txBox="1"/>
          <p:nvPr/>
        </p:nvSpPr>
        <p:spPr>
          <a:xfrm>
            <a:off x="5677535" y="2426335"/>
            <a:ext cx="6211570" cy="1495425"/>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② Schema Check</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检查结构化输出是否合法</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校验字段、数据类型与固定结构</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modality </a:t>
            </a:r>
            <a:r>
              <a:rPr lang="zh-CN" altLang="en-US" sz="1800">
                <a:latin typeface="Arial" panose="020B0604020202020204" pitchFamily="34" charset="0"/>
                <a:ea typeface="微软雅黑" panose="020B0503020204020204" pitchFamily="34" charset="-122"/>
              </a:rPr>
              <a:t>等枚举约束</a:t>
            </a:r>
            <a:endParaRPr lang="zh-CN" altLang="en-US"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保证输出符合统一 </a:t>
            </a:r>
            <a:r>
              <a:rPr lang="en-US" altLang="zh-CN" sz="1800">
                <a:latin typeface="Arial" panose="020B0604020202020204" pitchFamily="34" charset="0"/>
                <a:ea typeface="微软雅黑" panose="020B0503020204020204" pitchFamily="34" charset="-122"/>
              </a:rPr>
              <a:t>canonical schema</a:t>
            </a:r>
            <a:endParaRPr lang="en-US" altLang="zh-CN" sz="1800">
              <a:latin typeface="Arial" panose="020B0604020202020204" pitchFamily="34" charset="0"/>
              <a:ea typeface="微软雅黑" panose="020B0503020204020204" pitchFamily="34" charset="-122"/>
            </a:endParaRPr>
          </a:p>
        </p:txBody>
      </p:sp>
      <p:sp>
        <p:nvSpPr>
          <p:cNvPr id="7" name="文本框 6"/>
          <p:cNvSpPr txBox="1"/>
          <p:nvPr/>
        </p:nvSpPr>
        <p:spPr>
          <a:xfrm>
            <a:off x="5677535" y="4004945"/>
            <a:ext cx="6211570" cy="1461770"/>
          </a:xfrm>
          <a:prstGeom prst="rect">
            <a:avLst/>
          </a:prstGeom>
        </p:spPr>
        <p:txBody>
          <a:bodyPr>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③ Cross-field Check</a:t>
            </a:r>
            <a:endParaRPr lang="en-US" altLang="zh-CN" sz="1800">
              <a:latin typeface="Arial" panose="020B0604020202020204" pitchFamily="34" charset="0"/>
              <a:ea typeface="微软雅黑" panose="020B0503020204020204" pitchFamily="34" charset="-122"/>
            </a:endParaRPr>
          </a:p>
          <a:p>
            <a:pPr algn="l"/>
            <a:r>
              <a:rPr lang="zh-CN" altLang="en-US" sz="1800">
                <a:latin typeface="Arial" panose="020B0604020202020204" pitchFamily="34" charset="0"/>
                <a:ea typeface="微软雅黑" panose="020B0503020204020204" pitchFamily="34" charset="-122"/>
              </a:rPr>
              <a:t>检查字段之间是否自洽</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Actor-Action Map </a:t>
            </a:r>
            <a:r>
              <a:rPr lang="zh-CN" altLang="en-US" sz="1800">
                <a:latin typeface="Arial" panose="020B0604020202020204" pitchFamily="34" charset="0"/>
                <a:ea typeface="微软雅黑" panose="020B0503020204020204" pitchFamily="34" charset="-122"/>
              </a:rPr>
              <a:t>只能引用已存在的 </a:t>
            </a:r>
            <a:r>
              <a:rPr lang="en-US" altLang="zh-CN" sz="1800">
                <a:latin typeface="Arial" panose="020B0604020202020204" pitchFamily="34" charset="0"/>
                <a:ea typeface="微软雅黑" panose="020B0503020204020204" pitchFamily="34" charset="-122"/>
              </a:rPr>
              <a:t>Actor / Action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en-US" altLang="zh-CN" sz="1800">
                <a:latin typeface="Arial" panose="020B0604020202020204" pitchFamily="34" charset="0"/>
                <a:ea typeface="微软雅黑" panose="020B0503020204020204" pitchFamily="34" charset="-122"/>
              </a:rPr>
              <a:t>Order Relations </a:t>
            </a:r>
            <a:r>
              <a:rPr lang="zh-CN" altLang="en-US" sz="1800">
                <a:latin typeface="Arial" panose="020B0604020202020204" pitchFamily="34" charset="0"/>
                <a:ea typeface="微软雅黑" panose="020B0503020204020204" pitchFamily="34" charset="-122"/>
              </a:rPr>
              <a:t>只能引用已存在的 </a:t>
            </a:r>
            <a:r>
              <a:rPr lang="en-US" altLang="zh-CN" sz="1800">
                <a:latin typeface="Arial" panose="020B0604020202020204" pitchFamily="34" charset="0"/>
                <a:ea typeface="微软雅黑" panose="020B0503020204020204" pitchFamily="34" charset="-122"/>
              </a:rPr>
              <a:t>Action</a:t>
            </a:r>
            <a:endParaRPr lang="en-US" altLang="zh-CN" sz="1800">
              <a:latin typeface="Arial" panose="020B0604020202020204" pitchFamily="34" charset="0"/>
              <a:ea typeface="微软雅黑" panose="020B0503020204020204" pitchFamily="34" charset="-122"/>
            </a:endParaRPr>
          </a:p>
          <a:p>
            <a:pPr marL="285750" indent="-285750" algn="l">
              <a:buFont typeface="Arial" panose="020B0604020202020204" pitchFamily="34" charset="0"/>
              <a:buChar char="•"/>
            </a:pPr>
            <a:r>
              <a:rPr lang="zh-CN" altLang="en-US" sz="1800">
                <a:latin typeface="Arial" panose="020B0604020202020204" pitchFamily="34" charset="0"/>
                <a:ea typeface="微软雅黑" panose="020B0503020204020204" pitchFamily="34" charset="-122"/>
              </a:rPr>
              <a:t>检查 </a:t>
            </a:r>
            <a:r>
              <a:rPr lang="en-US" altLang="zh-CN" sz="1800">
                <a:latin typeface="Arial" panose="020B0604020202020204" pitchFamily="34" charset="0"/>
                <a:ea typeface="微软雅黑" panose="020B0503020204020204" pitchFamily="34" charset="-122"/>
              </a:rPr>
              <a:t>ID、span </a:t>
            </a:r>
            <a:r>
              <a:rPr lang="zh-CN" altLang="en-US" sz="1800">
                <a:latin typeface="Arial" panose="020B0604020202020204" pitchFamily="34" charset="0"/>
                <a:ea typeface="微软雅黑" panose="020B0503020204020204" pitchFamily="34" charset="-122"/>
              </a:rPr>
              <a:t>及 </a:t>
            </a:r>
            <a:r>
              <a:rPr lang="en-US" altLang="zh-CN" sz="1800">
                <a:latin typeface="Arial" panose="020B0604020202020204" pitchFamily="34" charset="0"/>
                <a:ea typeface="微软雅黑" panose="020B0503020204020204" pitchFamily="34" charset="-122"/>
              </a:rPr>
              <a:t>clause </a:t>
            </a:r>
            <a:r>
              <a:rPr lang="zh-CN" altLang="en-US" sz="1800">
                <a:latin typeface="Arial" panose="020B0604020202020204" pitchFamily="34" charset="0"/>
                <a:ea typeface="微软雅黑" panose="020B0503020204020204" pitchFamily="34" charset="-122"/>
              </a:rPr>
              <a:t>内部引用一致性</a:t>
            </a:r>
            <a:endParaRPr lang="zh-CN" altLang="en-US" sz="1800">
              <a:latin typeface="Arial" panose="020B0604020202020204" pitchFamily="34" charset="0"/>
              <a:ea typeface="微软雅黑" panose="020B0503020204020204" pitchFamily="34" charset="-122"/>
            </a:endParaRPr>
          </a:p>
        </p:txBody>
      </p:sp>
      <p:sp>
        <p:nvSpPr>
          <p:cNvPr id="8" name="文本框 7"/>
          <p:cNvSpPr txBox="1"/>
          <p:nvPr/>
        </p:nvSpPr>
        <p:spPr>
          <a:xfrm>
            <a:off x="5704205" y="5589270"/>
            <a:ext cx="618553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pitchFamily="34" charset="-122"/>
              </a:rPr>
              <a:t>④ Canonical Rule：</a:t>
            </a:r>
            <a:r>
              <a:rPr lang="zh-CN" altLang="en-US" sz="1800">
                <a:latin typeface="Arial" panose="020B0604020202020204" pitchFamily="34" charset="0"/>
                <a:ea typeface="微软雅黑" panose="020B0503020204020204" pitchFamily="34" charset="-122"/>
              </a:rPr>
              <a:t>通过上述确定性校验后，形成 </a:t>
            </a:r>
            <a:r>
              <a:rPr lang="en-US" altLang="zh-CN" sz="1800">
                <a:latin typeface="Arial" panose="020B0604020202020204" pitchFamily="34" charset="0"/>
                <a:ea typeface="微软雅黑" panose="020B0503020204020204" pitchFamily="34" charset="-122"/>
              </a:rPr>
              <a:t>Stage 3 </a:t>
            </a:r>
            <a:r>
              <a:rPr lang="zh-CN" altLang="en-US" sz="1800">
                <a:latin typeface="Arial" panose="020B0604020202020204" pitchFamily="34" charset="0"/>
                <a:ea typeface="微软雅黑" panose="020B0503020204020204" pitchFamily="34" charset="-122"/>
              </a:rPr>
              <a:t>可直接使用的统一规则表示。</a:t>
            </a:r>
            <a:endParaRPr lang="zh-CN" altLang="en-US" sz="1800">
              <a:latin typeface="Arial" panose="020B0604020202020204" pitchFamily="34" charset="0"/>
              <a:ea typeface="微软雅黑" panose="020B0503020204020204" pitchFamily="34" charset="-122"/>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8910955" cy="768985"/>
          </a:xfrm>
        </p:spPr>
        <p:txBody>
          <a:bodyPr>
            <a:normAutofit/>
          </a:bodyPr>
          <a:p>
            <a:r>
              <a:rPr lang="zh-CN" altLang="en-US"/>
              <a:t>方法-</a:t>
            </a:r>
            <a:r>
              <a:rPr lang="en-US" altLang="zh-CN"/>
              <a:t>Stage 3.1：Original Violation Detection</a:t>
            </a:r>
            <a:endParaRPr lang="en-US" altLang="zh-CN"/>
          </a:p>
        </p:txBody>
      </p:sp>
      <p:sp>
        <p:nvSpPr>
          <p:cNvPr id="3" name="">
            <a:extLst>
              <a:ext uri="{FF2B5EF4-FFF2-40B4-BE49-F238E27FC236}">
                <a16:creationId xmlns:a16="http://schemas.microsoft.com/office/drawing/2014/main" id="{0C57E644-67A1-4019-840B-13594505A3C2}"/>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① 规则匹配  Matching Score（Definition 4）</a:t>
            </a:r>
          </a:p>
        </p:txBody>
      </p:sp>
      <p:sp>
        <p:nvSpPr>
          <p:cNvPr id="4" name="EQ:matching">
            <a:extLst>
              <a:ext uri="{FF2B5EF4-FFF2-40B4-BE49-F238E27FC236}">
                <a16:creationId xmlns:a16="http://schemas.microsoft.com/office/drawing/2014/main" id="{1C7A7E09-87A0-49BF-B8F1-F2422243191E}"/>
              </a:ext>
            </a:extLst>
          </p:cNvPr>
          <p:cNvSpPr>
            <a:spLocks noGrp="1"/>
          </p:cNvSpPr>
          <p:nvPr/>
        </p:nvSpPr>
        <p:spPr>
          <a:xfrm>
            <a:off x="428625" y="1219200"/>
            <a:ext cx="11239500" cy="81915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300">
                      <a:latin typeface="Cambria Math"/>
                    </a:rPr>
                    <m:t xml:space="preserve">F(r,m,τ) = max(</m:t>
                  </m:r>
                  <m:f>
                    <m:num>
                      <m:nary>
                        <m:naryPr>
                          <m:chr m:val="∑"/>
                          <m:limLoc m:val="undOvr"/>
                          <m:supHide m:val="1"/>
                        </m:naryPr>
                        <m:sub>
                          <m:r>
                            <m:rPr>
                              <m:sty m:val="p"/>
                            </m:rPr>
                            <a:rPr lang="en-US" sz="2300">
                              <a:latin typeface="Cambria Math"/>
                            </a:rPr>
                            <m:t xml:space="preserve">(</m:t>
                          </m:r>
                          <m:sSub>
                            <m:e>
                              <m:r>
                                <m:rPr>
                                  <m:sty m:val="p"/>
                                </m:rPr>
                                <a:rPr lang="en-US" sz="2300">
                                  <a:latin typeface="Cambria Math"/>
                                </a:rPr>
                                <m:t xml:space="preserve">a</m:t>
                              </m:r>
                            </m:e>
                            <m:sub>
                              <m:r>
                                <m:rPr>
                                  <m:sty m:val="p"/>
                                </m:rPr>
                                <a:rPr lang="en-US" sz="2300">
                                  <a:latin typeface="Cambria Math"/>
                                </a:rPr>
                                <m:t xml:space="preserve">r</m:t>
                              </m:r>
                            </m:sub>
                          </m:sSub>
                          <m:r>
                            <m:rPr>
                              <m:sty m:val="p"/>
                            </m:rPr>
                            <a:rPr lang="en-US" sz="2300">
                              <a:latin typeface="Cambria Math"/>
                            </a:rPr>
                            <m:t xml:space="preserve">,</m:t>
                          </m:r>
                          <m:sSub>
                            <m:e>
                              <m:r>
                                <m:rPr>
                                  <m:sty m:val="p"/>
                                </m:rPr>
                                <a:rPr lang="en-US" sz="2300">
                                  <a:latin typeface="Cambria Math"/>
                                </a:rPr>
                                <m:t xml:space="preserve">a</m:t>
                              </m:r>
                            </m:e>
                            <m:sub>
                              <m:r>
                                <m:rPr>
                                  <m:sty m:val="p"/>
                                </m:rPr>
                                <a:rPr lang="en-US" sz="2300">
                                  <a:latin typeface="Cambria Math"/>
                                </a:rPr>
                                <m:t xml:space="preserve">m</m:t>
                              </m:r>
                            </m:sub>
                          </m:sSub>
                          <m:r>
                            <m:rPr>
                              <m:sty m:val="p"/>
                            </m:rPr>
                            <a:rPr lang="en-US" sz="2300">
                              <a:latin typeface="Cambria Math"/>
                            </a:rPr>
                            <m:t xml:space="preserve">)∈</m:t>
                          </m:r>
                          <m:sSub>
                            <m:e>
                              <m:r>
                                <m:rPr>
                                  <m:sty m:val="p"/>
                                </m:rPr>
                                <a:rPr lang="en-US" sz="2300">
                                  <a:latin typeface="Cambria Math"/>
                                </a:rPr>
                                <m:t xml:space="preserve">D</m:t>
                              </m:r>
                            </m:e>
                            <m:sub>
                              <m:r>
                                <m:rPr>
                                  <m:sty m:val="p"/>
                                </m:rPr>
                                <a:rPr lang="en-US" sz="2300">
                                  <a:latin typeface="Cambria Math"/>
                                </a:rPr>
                                <m:t xml:space="preserve">r,m</m:t>
                              </m:r>
                            </m:sub>
                          </m:sSub>
                        </m:sub>
                        <m:sup/>
                        <m:e>
                          <m:r>
                            <m:rPr>
                              <m:sty m:val="p"/>
                            </m:rPr>
                            <a:rPr lang="en-US" sz="2300">
                              <a:latin typeface="Cambria Math"/>
                            </a:rPr>
                            <m:t xml:space="preserve">[</m:t>
                          </m:r>
                          <m:r>
                            <m:rPr>
                              <m:sty m:val="p"/>
                            </m:rPr>
                            <a:rPr lang="en-US" sz="2300">
                              <a:latin typeface="Cambria Math"/>
                            </a:rPr>
                            <m:t xml:space="preserve">sim(</m:t>
                          </m:r>
                          <m:sSub>
                            <m:e>
                              <m:r>
                                <m:rPr>
                                  <m:sty m:val="p"/>
                                </m:rPr>
                                <a:rPr lang="en-US" sz="2300">
                                  <a:latin typeface="Cambria Math"/>
                                </a:rPr>
                                <m:t xml:space="preserve">a</m:t>
                              </m:r>
                            </m:e>
                            <m:sub>
                              <m:r>
                                <m:rPr>
                                  <m:sty m:val="p"/>
                                </m:rPr>
                                <a:rPr lang="en-US" sz="2300">
                                  <a:latin typeface="Cambria Math"/>
                                </a:rPr>
                                <m:t xml:space="preserve">r</m:t>
                              </m:r>
                            </m:sub>
                          </m:sSub>
                          <m:r>
                            <m:rPr>
                              <m:sty m:val="p"/>
                            </m:rPr>
                            <a:rPr lang="en-US" sz="2300">
                              <a:latin typeface="Cambria Math"/>
                            </a:rPr>
                            <m:t xml:space="preserve">, </m:t>
                          </m:r>
                          <m:sSub>
                            <m:e>
                              <m:r>
                                <m:rPr>
                                  <m:sty m:val="p"/>
                                </m:rPr>
                                <a:rPr lang="en-US" sz="2300">
                                  <a:latin typeface="Cambria Math"/>
                                </a:rPr>
                                <m:t xml:space="preserve">a</m:t>
                              </m:r>
                            </m:e>
                            <m:sub>
                              <m:r>
                                <m:rPr>
                                  <m:sty m:val="p"/>
                                </m:rPr>
                                <a:rPr lang="en-US" sz="2300">
                                  <a:latin typeface="Cambria Math"/>
                                </a:rPr>
                                <m:t xml:space="preserve">m</m:t>
                              </m:r>
                            </m:sub>
                          </m:sSub>
                          <m:r>
                            <m:rPr>
                              <m:sty m:val="p"/>
                            </m:rPr>
                            <a:rPr lang="en-US" sz="2300">
                              <a:latin typeface="Cambria Math"/>
                            </a:rPr>
                            <m:t xml:space="preserve">)</m:t>
                          </m:r>
                          <m:r>
                            <m:rPr>
                              <m:sty m:val="p"/>
                            </m:rPr>
                            <a:rPr lang="en-US" sz="2300">
                              <a:latin typeface="Cambria Math"/>
                            </a:rPr>
                            <m:t xml:space="preserve"> &gt; τ]</m:t>
                          </m:r>
                        </m:e>
                      </m:nary>
                    </m:num>
                    <m:den>
                      <m:r>
                        <m:rPr>
                          <m:sty m:val="p"/>
                        </m:rPr>
                        <a:rPr lang="en-US" sz="2300">
                          <a:latin typeface="Cambria Math"/>
                        </a:rPr>
                        <m:t xml:space="preserve">|</m:t>
                      </m:r>
                      <m:sSub>
                        <m:e>
                          <m:r>
                            <m:rPr>
                              <m:sty m:val="p"/>
                            </m:rPr>
                            <a:rPr lang="en-US" sz="2300">
                              <a:latin typeface="Cambria Math"/>
                            </a:rPr>
                            <m:t xml:space="preserve">D</m:t>
                          </m:r>
                        </m:e>
                        <m:sub>
                          <m:r>
                            <m:rPr>
                              <m:sty m:val="p"/>
                            </m:rPr>
                            <a:rPr lang="en-US" sz="2300">
                              <a:latin typeface="Cambria Math"/>
                            </a:rPr>
                            <m:t xml:space="preserve">r,m</m:t>
                          </m:r>
                        </m:sub>
                      </m:sSub>
                      <m:r>
                        <m:rPr>
                          <m:sty m:val="p"/>
                        </m:rPr>
                        <a:rPr lang="en-US" sz="2300">
                          <a:latin typeface="Cambria Math"/>
                        </a:rPr>
                        <m:t xml:space="preserve">|</m:t>
                      </m:r>
                    </m:den>
                  </m:f>
                  <m:r>
                    <m:rPr>
                      <m:sty m:val="p"/>
                    </m:rPr>
                    <a:rPr lang="en-US" sz="2300">
                      <a:latin typeface="Cambria Math"/>
                    </a:rPr>
                    <m:t xml:space="preserve">,  </m:t>
                  </m:r>
                  <m:f>
                    <m:num>
                      <m:nary>
                        <m:naryPr>
                          <m:chr m:val="∑"/>
                          <m:limLoc m:val="undOvr"/>
                          <m:supHide m:val="1"/>
                        </m:naryPr>
                        <m: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t>
                              </m:r>
                            </m:sub>
                          </m:s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m</m:t>
                              </m:r>
                            </m:sub>
                          </m:sSub>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m:t>
                              </m:r>
                            </m:sub>
                          </m:sSub>
                        </m:sub>
                        <m:sup/>
                        <m:e>
                          <m:r>
                            <m:rPr>
                              <m:sty m:val="p"/>
                            </m:rPr>
                            <a:rPr lang="en-US" sz="2300">
                              <a:latin typeface="Cambria Math"/>
                            </a:rPr>
                            <m:t xml:space="preserve">[</m:t>
                          </m:r>
                          <m:r>
                            <m:rPr>
                              <m:sty m:val="p"/>
                            </m:rPr>
                            <a:rPr lang="en-US" sz="2300">
                              <a:latin typeface="Cambria Math"/>
                            </a:rPr>
                            <m:t xml:space="preserve">sim(</m:t>
                          </m:r>
                          <m:sSub>
                            <m:e>
                              <m:r>
                                <m:rPr>
                                  <m:sty m:val="p"/>
                                </m:rPr>
                                <a:rPr lang="en-US" sz="2300">
                                  <a:latin typeface="Cambria Math"/>
                                </a:rPr>
                                <m:t xml:space="preserve">o</m:t>
                              </m:r>
                            </m:e>
                            <m:sub>
                              <m:r>
                                <m:rPr>
                                  <m:sty m:val="p"/>
                                </m:rPr>
                                <a:rPr lang="en-US" sz="2300">
                                  <a:latin typeface="Cambria Math"/>
                                </a:rPr>
                                <m:t xml:space="preserve">r</m:t>
                              </m:r>
                            </m:sub>
                          </m:sSub>
                          <m:r>
                            <m:rPr>
                              <m:sty m:val="p"/>
                            </m:rPr>
                            <a:rPr lang="en-US" sz="2300">
                              <a:latin typeface="Cambria Math"/>
                            </a:rPr>
                            <m:t xml:space="preserve">, </m:t>
                          </m:r>
                          <m:sSub>
                            <m:e>
                              <m:r>
                                <m:rPr>
                                  <m:sty m:val="p"/>
                                </m:rPr>
                                <a:rPr lang="en-US" sz="2300">
                                  <a:latin typeface="Cambria Math"/>
                                </a:rPr>
                                <m:t xml:space="preserve">o</m:t>
                              </m:r>
                            </m:e>
                            <m:sub>
                              <m:r>
                                <m:rPr>
                                  <m:sty m:val="p"/>
                                </m:rPr>
                                <a:rPr lang="en-US" sz="2300">
                                  <a:latin typeface="Cambria Math"/>
                                </a:rPr>
                                <m:t xml:space="preserve">m</m:t>
                              </m:r>
                            </m:sub>
                          </m:sSub>
                          <m:r>
                            <m:rPr>
                              <m:sty m:val="p"/>
                            </m:rPr>
                            <a:rPr lang="en-US" sz="2300">
                              <a:latin typeface="Cambria Math"/>
                            </a:rPr>
                            <m:t xml:space="preserve">)</m:t>
                          </m:r>
                          <m:r>
                            <m:rPr>
                              <m:sty m:val="p"/>
                            </m:rPr>
                            <a:rPr lang="en-US" sz="2300">
                              <a:latin typeface="Cambria Math"/>
                            </a:rPr>
                            <m:t xml:space="preserve"> &gt; τ]</m:t>
                          </m:r>
                        </m:e>
                      </m:nary>
                    </m:num>
                    <m:den>
                      <m:r>
                        <m:rPr>
                          <m:sty m:val="p"/>
                        </m:rPr>
                        <a:rPr lang="en-US" sz="2300">
                          <a:latin typeface="Cambria Math"/>
                        </a:rPr>
                        <m:t xml:space="preserve">|</m:t>
                      </m:r>
                      <m:sSub>
                        <m:e>
                          <m:r>
                            <m:rPr>
                              <m:sty m:val="p"/>
                            </m:rPr>
                            <a:rPr lang="en-US" sz="2300">
                              <a:latin typeface="Cambria Math"/>
                            </a:rPr>
                            <m:t xml:space="preserve">O</m:t>
                          </m:r>
                        </m:e>
                        <m:sub>
                          <m:r>
                            <m:rPr>
                              <m:sty m:val="p"/>
                            </m:rPr>
                            <a:rPr lang="en-US" sz="2300">
                              <a:latin typeface="Cambria Math"/>
                            </a:rPr>
                            <m:t xml:space="preserve">r,m</m:t>
                          </m:r>
                        </m:sub>
                      </m:sSub>
                      <m:r>
                        <m:rPr>
                          <m:sty m:val="p"/>
                        </m:rPr>
                        <a:rPr lang="en-US" sz="2300">
                          <a:latin typeface="Cambria Math"/>
                        </a:rPr>
                        <m:t xml:space="preserve">|</m:t>
                      </m:r>
                    </m:den>
                  </m:f>
                  <m:r>
                    <m:rPr>
                      <m:sty m:val="p"/>
                    </m:rPr>
                    <a:rPr lang="en-US" sz="2300">
                      <a:latin typeface="Cambria Math"/>
                    </a:rPr>
                    <m:t xml:space="preserve">)</m:t>
                  </m:r>
                </m:oMath>
              </m:oMathPara>
            </a14:m>
            <a:endParaRPr lang="en-US" sz="2300"/>
          </a:p>
        </p:txBody>
      </p:sp>
      <p:sp>
        <p:nvSpPr>
          <p:cNvPr id="5" name="">
            <a:extLst>
              <a:ext uri="{FF2B5EF4-FFF2-40B4-BE49-F238E27FC236}">
                <a16:creationId xmlns:a16="http://schemas.microsoft.com/office/drawing/2014/main" id="{BAFCF468-026C-4938-8237-B1E8395F13B5}"/>
              </a:ext>
            </a:extLst>
          </p:cNvPr>
          <p:cNvSpPr>
            <a:spLocks noGrp="1"/>
          </p:cNvSpPr>
          <p:nvPr/>
        </p:nvSpPr>
        <p:spPr>
          <a:xfrm>
            <a:off x="428625" y="21145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D</a:t>
            </a:r>
            <a:r>
              <a:rPr sz="1242" b="0" baseline="-22000">
                <a:solidFill>
                  <a:srgbClr val="111111"/>
                </a:solidFill>
                <a:latin typeface="微软雅黑"/>
                <a:ea typeface="微软雅黑"/>
                <a:cs typeface="微软雅黑"/>
              </a:rPr>
              <a:t>r,m</a:t>
            </a:r>
            <a:r>
              <a:rPr sz="1725" b="0">
                <a:solidFill>
                  <a:srgbClr val="111111"/>
                </a:solidFill>
                <a:latin typeface="微软雅黑"/>
                <a:ea typeface="微软雅黑"/>
                <a:cs typeface="微软雅黑"/>
              </a:rPr>
              <a:t>：法规 Action 与流程最佳 Action 的配对集合</a:t>
            </a:r>
          </a:p>
        </p:txBody>
      </p:sp>
      <p:sp>
        <p:nvSpPr>
          <p:cNvPr id="6" name="">
            <a:extLst>
              <a:ext uri="{FF2B5EF4-FFF2-40B4-BE49-F238E27FC236}">
                <a16:creationId xmlns:a16="http://schemas.microsoft.com/office/drawing/2014/main" id="{1F9551A4-5C51-4CA3-B5B5-684A7C0F936D}"/>
              </a:ext>
            </a:extLst>
          </p:cNvPr>
          <p:cNvSpPr>
            <a:spLocks noGrp="1"/>
          </p:cNvSpPr>
          <p:nvPr/>
        </p:nvSpPr>
        <p:spPr>
          <a:xfrm>
            <a:off x="428625" y="24574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O</a:t>
            </a:r>
            <a:r>
              <a:rPr sz="1242" b="0" baseline="-22000">
                <a:solidFill>
                  <a:srgbClr val="111111"/>
                </a:solidFill>
                <a:latin typeface="微软雅黑"/>
                <a:ea typeface="微软雅黑"/>
                <a:cs typeface="微软雅黑"/>
              </a:rPr>
              <a:t>r,m</a:t>
            </a:r>
            <a:r>
              <a:rPr sz="1725" b="0">
                <a:solidFill>
                  <a:srgbClr val="111111"/>
                </a:solidFill>
                <a:latin typeface="微软雅黑"/>
                <a:ea typeface="微软雅黑"/>
                <a:cs typeface="微软雅黑"/>
              </a:rPr>
              <a:t>：法规 Actor 与流程 Actor／Business Object 的最佳配对集合</a:t>
            </a:r>
          </a:p>
        </p:txBody>
      </p:sp>
      <p:sp>
        <p:nvSpPr>
          <p:cNvPr id="7" name="">
            <a:extLst>
              <a:ext uri="{FF2B5EF4-FFF2-40B4-BE49-F238E27FC236}">
                <a16:creationId xmlns:a16="http://schemas.microsoft.com/office/drawing/2014/main" id="{0C11A70B-95BE-4393-9490-7613311FB720}"/>
              </a:ext>
            </a:extLst>
          </p:cNvPr>
          <p:cNvSpPr>
            <a:spLocks noGrp="1"/>
          </p:cNvSpPr>
          <p:nvPr/>
        </p:nvSpPr>
        <p:spPr>
          <a:xfrm>
            <a:off x="428625" y="28003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τ：语义匹配阈值。分别统计匹配比例，取较大者衡量规则与流程的相关性。</a:t>
            </a:r>
          </a:p>
        </p:txBody>
      </p:sp>
      <p:sp>
        <p:nvSpPr>
          <p:cNvPr id="8" name="">
            <a:extLst>
              <a:ext uri="{FF2B5EF4-FFF2-40B4-BE49-F238E27FC236}">
                <a16:creationId xmlns:a16="http://schemas.microsoft.com/office/drawing/2014/main" id="{EABC299B-2E28-4D9E-AA28-4F68691236DB}"/>
              </a:ext>
            </a:extLst>
          </p:cNvPr>
          <p:cNvSpPr>
            <a:spLocks noGrp="1"/>
          </p:cNvSpPr>
          <p:nvPr/>
        </p:nvSpPr>
        <p:spPr>
          <a:xfrm>
            <a:off x="361950" y="334327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② 缺失行为  Missing Action（Definition 5）</a:t>
            </a:r>
          </a:p>
        </p:txBody>
      </p:sp>
      <p:sp>
        <p:nvSpPr>
          <p:cNvPr id="9" name="EQ:missing">
            <a:extLst>
              <a:ext uri="{FF2B5EF4-FFF2-40B4-BE49-F238E27FC236}">
                <a16:creationId xmlns:a16="http://schemas.microsoft.com/office/drawing/2014/main" id="{E691F91A-307E-4883-9FBC-BDB9E775E590}"/>
              </a:ext>
            </a:extLst>
          </p:cNvPr>
          <p:cNvSpPr>
            <a:spLocks noGrp="1"/>
          </p:cNvSpPr>
          <p:nvPr/>
        </p:nvSpPr>
        <p:spPr>
          <a:xfrm>
            <a:off x="428625" y="3743325"/>
            <a:ext cx="11239500" cy="8286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400">
                      <a:latin typeface="Cambria Math"/>
                    </a:rPr>
                    <m:t xml:space="preserve">action_violation(r,m,γ) = </m:t>
                  </m:r>
                  <m:f>
                    <m:num>
                      <m:r>
                        <m:rPr>
                          <m:sty m:val="p"/>
                        </m:rPr>
                        <a:rPr lang="en-US" sz="2400">
                          <a:latin typeface="Cambria Math"/>
                        </a:rPr>
                        <m:t xml:space="preserve">|</m:t>
                      </m:r>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m</m:t>
                          </m:r>
                        </m:sub>
                      </m:sSub>
                      <m:r>
                        <m:rPr>
                          <m:sty m:val="p"/>
                        </m:rPr>
                        <a:rPr lang="en-US" sz="2400">
                          <a:latin typeface="Cambria Math"/>
                        </a:rPr>
                        <m:t xml:space="preserve">)∈</m:t>
                      </m:r>
                      <m:sSub>
                        <m:e>
                          <m:r>
                            <m:rPr>
                              <m:sty m:val="p"/>
                            </m:rPr>
                            <a:rPr lang="en-US" sz="2400">
                              <a:latin typeface="Cambria Math"/>
                            </a:rPr>
                            <m:t xml:space="preserve">D</m:t>
                          </m:r>
                        </m:e>
                        <m:sub>
                          <m:r>
                            <m:rPr>
                              <m:sty m:val="p"/>
                            </m:rPr>
                            <a:rPr lang="en-US" sz="2400">
                              <a:latin typeface="Cambria Math"/>
                            </a:rPr>
                            <m:t xml:space="preserve">r,m</m:t>
                          </m:r>
                        </m:sub>
                      </m:sSub>
                      <m:r>
                        <m:rPr>
                          <m:sty m:val="p"/>
                        </m:rPr>
                        <a:rPr lang="en-US" sz="2400">
                          <a:latin typeface="Cambria Math"/>
                        </a:rPr>
                        <m:t xml:space="preserve"> : </m:t>
                      </m:r>
                      <m:r>
                        <m:rPr>
                          <m:sty m:val="p"/>
                        </m:rPr>
                        <a:rPr lang="en-US" sz="2400">
                          <a:latin typeface="Cambria Math"/>
                        </a:rPr>
                        <m:t xml:space="preserve">sim(</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 </m:t>
                      </m:r>
                      <m:sSub>
                        <m:e>
                          <m:r>
                            <m:rPr>
                              <m:sty m:val="p"/>
                            </m:rPr>
                            <a:rPr lang="en-US" sz="2400">
                              <a:latin typeface="Cambria Math"/>
                            </a:rPr>
                            <m:t xml:space="preserve">a</m:t>
                          </m:r>
                        </m:e>
                        <m:sub>
                          <m:r>
                            <m:rPr>
                              <m:sty m:val="p"/>
                            </m:rPr>
                            <a:rPr lang="en-US" sz="2400">
                              <a:latin typeface="Cambria Math"/>
                            </a:rPr>
                            <m:t xml:space="preserve">m</m:t>
                          </m:r>
                        </m:sub>
                      </m:sSub>
                      <m:r>
                        <m:rPr>
                          <m:sty m:val="p"/>
                        </m:rPr>
                        <a:rPr lang="en-US" sz="2400">
                          <a:latin typeface="Cambria Math"/>
                        </a:rPr>
                        <m:t xml:space="preserve">)</m:t>
                      </m:r>
                      <m:r>
                        <m:rPr>
                          <m:sty m:val="p"/>
                        </m:rPr>
                        <a:rPr lang="en-US" sz="2400">
                          <a:latin typeface="Cambria Math"/>
                        </a:rPr>
                        <m:t xml:space="preserve"> &lt; γ}</m:t>
                      </m:r>
                      <m:r>
                        <m:rPr>
                          <m:sty m:val="p"/>
                        </m:rPr>
                        <a:rPr lang="en-US" sz="2400">
                          <a:latin typeface="Cambria Math"/>
                        </a:rPr>
                        <m:t xml:space="preserve">|</m:t>
                      </m:r>
                    </m:num>
                    <m:den>
                      <m:r>
                        <m:rPr>
                          <m:sty m:val="p"/>
                        </m:rPr>
                        <a:rPr lang="en-US" sz="2400">
                          <a:latin typeface="Cambria Math"/>
                        </a:rPr>
                        <m:t xml:space="preserve">|</m:t>
                      </m:r>
                      <m:sSub>
                        <m:e>
                          <m:r>
                            <m:rPr>
                              <m:sty m:val="p"/>
                            </m:rPr>
                            <a:rPr lang="en-US" sz="2400">
                              <a:latin typeface="Cambria Math"/>
                            </a:rPr>
                            <m:t xml:space="preserve">A</m:t>
                          </m:r>
                        </m:e>
                        <m:sub>
                          <m:r>
                            <m:rPr>
                              <m:sty m:val="p"/>
                            </m:rPr>
                            <a:rPr lang="en-US" sz="2400">
                              <a:latin typeface="Cambria Math"/>
                            </a:rPr>
                            <m:t xml:space="preserve">r</m:t>
                          </m:r>
                        </m:sub>
                      </m:sSub>
                      <m:r>
                        <m:rPr>
                          <m:sty m:val="p"/>
                        </m:rPr>
                        <a:rPr lang="en-US" sz="2400">
                          <a:latin typeface="Cambria Math"/>
                        </a:rPr>
                        <m:t xml:space="preserve">|</m:t>
                      </m:r>
                    </m:den>
                  </m:f>
                </m:oMath>
              </m:oMathPara>
            </a14:m>
            <a:endParaRPr lang="en-US" sz="2400"/>
          </a:p>
        </p:txBody>
      </p:sp>
      <p:sp>
        <p:nvSpPr>
          <p:cNvPr id="10" name="">
            <a:extLst>
              <a:ext uri="{FF2B5EF4-FFF2-40B4-BE49-F238E27FC236}">
                <a16:creationId xmlns:a16="http://schemas.microsoft.com/office/drawing/2014/main" id="{316B3775-2B2B-4F58-9FA7-C8F51E7E4C66}"/>
              </a:ext>
            </a:extLst>
          </p:cNvPr>
          <p:cNvSpPr>
            <a:spLocks noGrp="1"/>
          </p:cNvSpPr>
          <p:nvPr/>
        </p:nvSpPr>
        <p:spPr>
          <a:xfrm>
            <a:off x="428625" y="463867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A</a:t>
            </a:r>
            <a:r>
              <a:rPr sz="1242" b="0" baseline="-22000">
                <a:solidFill>
                  <a:srgbClr val="111111"/>
                </a:solidFill>
                <a:latin typeface="微软雅黑"/>
                <a:ea typeface="微软雅黑"/>
                <a:cs typeface="微软雅黑"/>
              </a:rPr>
              <a:t>r</a:t>
            </a:r>
            <a:r>
              <a:rPr sz="1725" b="0">
                <a:solidFill>
                  <a:srgbClr val="111111"/>
                </a:solidFill>
                <a:latin typeface="微软雅黑"/>
                <a:ea typeface="微软雅黑"/>
                <a:cs typeface="微软雅黑"/>
              </a:rPr>
              <a:t>：法规要求的 Action 集合。γ：动作相似度阈值。</a:t>
            </a:r>
          </a:p>
        </p:txBody>
      </p:sp>
      <p:sp>
        <p:nvSpPr>
          <p:cNvPr id="11" name="">
            <a:extLst>
              <a:ext uri="{FF2B5EF4-FFF2-40B4-BE49-F238E27FC236}">
                <a16:creationId xmlns:a16="http://schemas.microsoft.com/office/drawing/2014/main" id="{4EB40A33-D9F7-48BE-9BC6-72D125735D95}"/>
              </a:ext>
            </a:extLst>
          </p:cNvPr>
          <p:cNvSpPr>
            <a:spLocks noGrp="1"/>
          </p:cNvSpPr>
          <p:nvPr/>
        </p:nvSpPr>
        <p:spPr>
          <a:xfrm>
            <a:off x="428625" y="5010150"/>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含义：无法可靠匹配到流程动作的法规 Action，占全部要求动作的比例。</a:t>
            </a:r>
          </a:p>
        </p:txBody>
      </p:sp>
      <p:sp>
        <p:nvSpPr>
          <p:cNvPr id="12" name="">
            <a:extLst>
              <a:ext uri="{FF2B5EF4-FFF2-40B4-BE49-F238E27FC236}">
                <a16:creationId xmlns:a16="http://schemas.microsoft.com/office/drawing/2014/main" id="{B7477C68-5148-4566-A07F-860597A3FA8D}"/>
              </a:ext>
            </a:extLst>
          </p:cNvPr>
          <p:cNvSpPr>
            <a:spLocks noGrp="1"/>
          </p:cNvSpPr>
          <p:nvPr/>
        </p:nvSpPr>
        <p:spPr>
          <a:xfrm>
            <a:off x="428625" y="54006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示例：法规要求 4 个动作，其中 1 个未匹配，则 action_violation = 1/4。</a:t>
            </a:r>
          </a:p>
        </p:txBody>
      </p:sp>
      <p:sp>
        <p:nvSpPr>
          <p:cNvPr id="13" name="">
            <a:extLst>
              <a:ext uri="{FF2B5EF4-FFF2-40B4-BE49-F238E27FC236}">
                <a16:creationId xmlns:a16="http://schemas.microsoft.com/office/drawing/2014/main" id="{AA6A77D5-617F-46C0-815B-650B4037D4DC}"/>
              </a:ext>
            </a:extLst>
          </p:cNvPr>
          <p:cNvSpPr>
            <a:spLocks noGrp="1"/>
          </p:cNvSpPr>
          <p:nvPr/>
        </p:nvSpPr>
        <p:spPr>
          <a:xfrm>
            <a:off x="428625" y="5943600"/>
            <a:ext cx="11239500" cy="381000"/>
          </a:xfrm>
          <a:prstGeom prst="rect">
            <a:avLst/>
          </a:prstGeom>
          <a:noFill/>
          <a:ln w="0">
            <a:noFill/>
          </a:ln>
        </p:spPr>
        <p:txBody>
          <a:bodyPr anchor="ctr">
            <a:noAutofit/>
          </a:bodyPr>
          <a:lstStyle/>
          <a:p>
            <a:pPr>
              <a:defRPr sz="1425" b="0">
                <a:solidFill>
                  <a:srgbClr val="111111"/>
                </a:solidFill>
                <a:latin typeface="微软雅黑"/>
                <a:ea typeface="微软雅黑"/>
                <a:cs typeface="微软雅黑"/>
              </a:defRPr>
            </a:pPr>
            <a:r>
              <a:rPr sz="1425" b="0">
                <a:solidFill>
                  <a:srgbClr val="111111"/>
                </a:solidFill>
                <a:latin typeface="微软雅黑"/>
                <a:ea typeface="微软雅黑"/>
                <a:cs typeface="微软雅黑"/>
              </a:rPr>
              <a:t>共同符号：r 为 Rule Record，m 为流程模型，sim ∈ [0,1]；[条件] 成立时取 1，否则取 0。</a:t>
            </a: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Stage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A33F3316-25A9-470B-B6D0-DA37DF18C866}"/>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四类扩展违规与 Rule Record 字段</a:t>
            </a:r>
          </a:p>
        </p:txBody>
      </p:sp>
      <p:sp>
        <p:nvSpPr>
          <p:cNvPr id="4" name="">
            <a:extLst>
              <a:ext uri="{FF2B5EF4-FFF2-40B4-BE49-F238E27FC236}">
                <a16:creationId xmlns:a16="http://schemas.microsoft.com/office/drawing/2014/main" id="{2B250039-E9B3-437A-9C7C-51B6BD002C03}"/>
              </a:ext>
            </a:extLst>
          </p:cNvPr>
          <p:cNvSpPr>
            <a:spLocks noGrp="1"/>
          </p:cNvSpPr>
          <p:nvPr/>
        </p:nvSpPr>
        <p:spPr>
          <a:xfrm>
            <a:off x="428625" y="12477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在 Action、Actor、Order 检查之外，为 Modality、Condition、Constraint、Exception 增加检查。</a:t>
            </a:r>
          </a:p>
        </p:txBody>
      </p:sp>
      <p:graphicFrame>
        <p:nvGraphicFramePr>
          <p:cNvPr id="5" name=""/>
          <p:cNvGraphicFramePr/>
          <p:nvPr/>
        </p:nvGraphicFramePr>
        <p:xfrm>
          <a:off x="361950" y="1790700"/>
          <a:ext cx="11468100" cy="3762375"/>
        </p:xfrm>
        <a:graphic>
          <a:graphicData uri="http://schemas.openxmlformats.org/drawingml/2006/table">
            <a:tbl>
              <a:tblPr/>
              <a:tblGrid>
                <a:gridCol w="1990725"/>
                <a:gridCol w="3781425"/>
                <a:gridCol w="5695950"/>
              </a:tblGrid>
              <a:tr h="447675">
                <a:tc>
                  <a:txBody>
                    <a:bodyPr>
                      <a:noAutofit/>
                    </a:bodyPr>
                    <a:lstStyle/>
                    <a:p>
                      <a:r>
                        <a:rPr sz="1725" b="1">
                          <a:solidFill>
                            <a:srgbClr val="064689"/>
                          </a:solidFill>
                          <a:latin typeface="微软雅黑"/>
                          <a:ea typeface="微软雅黑"/>
                          <a:cs typeface="微软雅黑"/>
                        </a:rPr>
                        <a:t>规则信息</a:t>
                      </a:r>
                    </a:p>
                  </a:txBody>
                  <a:tcPr marL="91440" marR="91440" marT="45720" marB="45720" anchor="ctr">
                    <a:solidFill>
                      <a:srgbClr val="EAF1F8"/>
                    </a:solidFill>
                  </a:tcPr>
                </a:tc>
                <a:tc>
                  <a:txBody>
                    <a:bodyPr>
                      <a:noAutofit/>
                    </a:bodyPr>
                    <a:lstStyle/>
                    <a:p>
                      <a:r>
                        <a:rPr sz="1725" b="1">
                          <a:solidFill>
                            <a:srgbClr val="064689"/>
                          </a:solidFill>
                          <a:latin typeface="微软雅黑"/>
                          <a:ea typeface="微软雅黑"/>
                          <a:cs typeface="微软雅黑"/>
                        </a:rPr>
                        <a:t>扩展违规类型</a:t>
                      </a:r>
                    </a:p>
                  </a:txBody>
                  <a:tcPr marL="91440" marR="91440" marT="45720" marB="45720" anchor="ctr">
                    <a:solidFill>
                      <a:srgbClr val="EAF1F8"/>
                    </a:solidFill>
                  </a:tcPr>
                </a:tc>
                <a:tc>
                  <a:txBody>
                    <a:bodyPr>
                      <a:noAutofit/>
                    </a:bodyPr>
                    <a:lstStyle/>
                    <a:p>
                      <a:r>
                        <a:rPr sz="1725" b="1">
                          <a:solidFill>
                            <a:srgbClr val="064689"/>
                          </a:solidFill>
                          <a:latin typeface="微软雅黑"/>
                          <a:ea typeface="微软雅黑"/>
                          <a:cs typeface="微软雅黑"/>
                        </a:rPr>
                        <a:t>检查含义与示例</a:t>
                      </a:r>
                    </a:p>
                  </a:txBody>
                  <a:tcPr marL="91440" marR="91440" marT="45720" marB="45720" anchor="ctr">
                    <a:solidFill>
                      <a:srgbClr val="EAF1F8"/>
                    </a:solidFill>
                  </a:tcPr>
                </a:tc>
              </a:tr>
              <a:tr h="828675">
                <a:tc>
                  <a:txBody>
                    <a:bodyPr>
                      <a:noAutofit/>
                    </a:bodyPr>
                    <a:lstStyle/>
                    <a:p>
                      <a:r>
                        <a:rPr sz="1575" b="0">
                          <a:solidFill>
                            <a:srgbClr val="111111"/>
                          </a:solidFill>
                          <a:latin typeface="微软雅黑"/>
                          <a:ea typeface="微软雅黑"/>
                          <a:cs typeface="微软雅黑"/>
                        </a:rPr>
                        <a:t>Prohibition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禁止行为出现</a:t>
                      </a:r>
                    </a:p>
                    <a:p>
                      <a:r>
                        <a:rPr sz="1575" b="0">
                          <a:solidFill>
                            <a:srgbClr val="111111"/>
                          </a:solidFill>
                          <a:latin typeface="微软雅黑"/>
                          <a:ea typeface="微软雅黑"/>
                          <a:cs typeface="微软雅黑"/>
                        </a:rPr>
                        <a:t>Prohibited Action Present</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禁止动作仍出现在流程中</a:t>
                      </a:r>
                    </a:p>
                    <a:p>
                      <a:r>
                        <a:rPr sz="1575" b="0">
                          <a:solidFill>
                            <a:srgbClr val="111111"/>
                          </a:solidFill>
                          <a:latin typeface="微软雅黑"/>
                          <a:ea typeface="微软雅黑"/>
                          <a:cs typeface="微软雅黑"/>
                        </a:rPr>
                        <a:t>例：禁止披露个人数据，却存在披露活动</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Condition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必要条件未落实</a:t>
                      </a:r>
                    </a:p>
                    <a:p>
                      <a:r>
                        <a:rPr sz="1575" b="0">
                          <a:solidFill>
                            <a:srgbClr val="111111"/>
                          </a:solidFill>
                          <a:latin typeface="微软雅黑"/>
                          <a:ea typeface="微软雅黑"/>
                          <a:cs typeface="微软雅黑"/>
                        </a:rPr>
                        <a:t>Required Condition Not Enforced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已映射动作缺少相应条件证据</a:t>
                      </a:r>
                    </a:p>
                    <a:p>
                      <a:r>
                        <a:rPr sz="1575" b="0">
                          <a:solidFill>
                            <a:srgbClr val="111111"/>
                          </a:solidFill>
                          <a:latin typeface="微软雅黑"/>
                          <a:ea typeface="微软雅黑"/>
                          <a:cs typeface="微软雅黑"/>
                        </a:rPr>
                        <a:t>例：操作要求同意，但相关网关未表达同意</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Constraint</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约束违反</a:t>
                      </a:r>
                    </a:p>
                    <a:p>
                      <a:r>
                        <a:rPr sz="1575" b="0">
                          <a:solidFill>
                            <a:srgbClr val="111111"/>
                          </a:solidFill>
                          <a:latin typeface="微软雅黑"/>
                          <a:ea typeface="微软雅黑"/>
                          <a:cs typeface="微软雅黑"/>
                        </a:rPr>
                        <a:t>Constraint Violated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约束证据缺失或存在明确时间冲突</a:t>
                      </a:r>
                    </a:p>
                    <a:p>
                      <a:r>
                        <a:rPr sz="1575" b="0">
                          <a:solidFill>
                            <a:srgbClr val="111111"/>
                          </a:solidFill>
                          <a:latin typeface="微软雅黑"/>
                          <a:ea typeface="微软雅黑"/>
                          <a:cs typeface="微软雅黑"/>
                        </a:rPr>
                        <a:t>例：要求 72 小时内完成，绑定限制为 96 小时</a:t>
                      </a:r>
                    </a:p>
                  </a:txBody>
                  <a:tcPr marL="91440" marR="91440" marT="45720" marB="45720" anchor="ctr">
                    <a:solidFill>
                      <a:srgbClr val="FFFFFF"/>
                    </a:solidFill>
                  </a:tcPr>
                </a:tc>
              </a:tr>
              <a:tr h="828675">
                <a:tc>
                  <a:txBody>
                    <a:bodyPr>
                      <a:noAutofit/>
                    </a:bodyPr>
                    <a:lstStyle/>
                    <a:p>
                      <a:r>
                        <a:rPr sz="1575" b="0">
                          <a:solidFill>
                            <a:srgbClr val="111111"/>
                          </a:solidFill>
                          <a:latin typeface="微软雅黑"/>
                          <a:ea typeface="微软雅黑"/>
                          <a:cs typeface="微软雅黑"/>
                        </a:rPr>
                        <a:t>Exception</a:t>
                      </a:r>
                    </a:p>
                    <a:p>
                      <a:r>
                        <a:rPr sz="1575" b="0">
                          <a:solidFill>
                            <a:srgbClr val="111111"/>
                          </a:solidFill>
                          <a:latin typeface="微软雅黑"/>
                          <a:ea typeface="微软雅黑"/>
                          <a:cs typeface="微软雅黑"/>
                        </a:rPr>
                        <a:t>+ Action</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例外未处理</a:t>
                      </a:r>
                    </a:p>
                    <a:p>
                      <a:r>
                        <a:rPr sz="1575" b="0">
                          <a:solidFill>
                            <a:srgbClr val="111111"/>
                          </a:solidFill>
                          <a:latin typeface="微软雅黑"/>
                          <a:ea typeface="微软雅黑"/>
                          <a:cs typeface="微软雅黑"/>
                        </a:rPr>
                        <a:t>Exception Not Handled</a:t>
                      </a:r>
                    </a:p>
                  </a:txBody>
                  <a:tcPr marL="91440" marR="91440" marT="45720" marB="45720" anchor="ctr">
                    <a:solidFill>
                      <a:srgbClr val="FFFFFF"/>
                    </a:solidFill>
                  </a:tcPr>
                </a:tc>
                <a:tc>
                  <a:txBody>
                    <a:bodyPr>
                      <a:noAutofit/>
                    </a:bodyPr>
                    <a:lstStyle/>
                    <a:p>
                      <a:r>
                        <a:rPr sz="1575" b="0">
                          <a:solidFill>
                            <a:srgbClr val="111111"/>
                          </a:solidFill>
                          <a:latin typeface="微软雅黑"/>
                          <a:ea typeface="微软雅黑"/>
                          <a:cs typeface="微软雅黑"/>
                        </a:rPr>
                        <a:t>已映射动作缺少对应例外处理证据</a:t>
                      </a:r>
                    </a:p>
                    <a:p>
                      <a:r>
                        <a:rPr sz="1575" b="0">
                          <a:solidFill>
                            <a:srgbClr val="111111"/>
                          </a:solidFill>
                          <a:latin typeface="微软雅黑"/>
                          <a:ea typeface="微软雅黑"/>
                          <a:cs typeface="微软雅黑"/>
                        </a:rPr>
                        <a:t>例：撤回同意时应取消，却缺少处理分支</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8548FA61-2CE9-4BFB-B012-1CE6B755E609}"/>
              </a:ext>
            </a:extLst>
          </p:cNvPr>
          <p:cNvSpPr>
            <a:spLocks noGrp="1"/>
          </p:cNvSpPr>
          <p:nvPr/>
        </p:nvSpPr>
        <p:spPr>
          <a:xfrm>
            <a:off x="428625" y="57912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四类检查共享判定形式，各方法沿用自己的相似度后端与冻结动作匹配阈值。</a:t>
            </a:r>
          </a:p>
        </p:txBody>
      </p:sp>
      <p:sp>
        <p:nvSpPr>
          <p:cNvPr id="7" name="">
            <a:extLst>
              <a:ext uri="{FF2B5EF4-FFF2-40B4-BE49-F238E27FC236}">
                <a16:creationId xmlns:a16="http://schemas.microsoft.com/office/drawing/2014/main" id="{BA8DA5EE-B029-4EEA-BA86-A3A9A5697197}"/>
              </a:ext>
            </a:extLst>
          </p:cNvPr>
          <p:cNvSpPr>
            <a:spLocks noGrp="1"/>
          </p:cNvSpPr>
          <p:nvPr/>
        </p:nvSpPr>
        <p:spPr>
          <a:xfrm>
            <a:off x="428625" y="613410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研究范围：development-only controlled study；下页公式中的证据存在与动作映射前提均须满足。</a:t>
            </a:r>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22"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23"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24"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125" name="组合 31"/>
          <p:cNvGrpSpPr/>
          <p:nvPr/>
        </p:nvGrpSpPr>
        <p:grpSpPr>
          <a:xfrm>
            <a:off x="4334366" y="867211"/>
            <a:ext cx="6431043" cy="1134781"/>
            <a:chOff x="3781167" y="-569597"/>
            <a:chExt cx="7100675" cy="1134781"/>
          </a:xfrm>
        </p:grpSpPr>
        <p:sp>
          <p:nvSpPr>
            <p:cNvPr id="126"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27"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28" name="组合 38"/>
            <p:cNvGrpSpPr/>
            <p:nvPr/>
          </p:nvGrpSpPr>
          <p:grpSpPr>
            <a:xfrm rot="16200000">
              <a:off x="4093035" y="-642392"/>
              <a:ext cx="1134781" cy="1280371"/>
              <a:chOff x="8439634" y="3544648"/>
              <a:chExt cx="1611146" cy="1817848"/>
            </a:xfrm>
          </p:grpSpPr>
          <p:sp>
            <p:nvSpPr>
              <p:cNvPr id="129"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30"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31"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132" name="组合 43"/>
          <p:cNvGrpSpPr/>
          <p:nvPr/>
        </p:nvGrpSpPr>
        <p:grpSpPr>
          <a:xfrm>
            <a:off x="4334364" y="2284232"/>
            <a:ext cx="6399716" cy="1134781"/>
            <a:chOff x="3781167" y="-569597"/>
            <a:chExt cx="7100675" cy="1134781"/>
          </a:xfrm>
        </p:grpSpPr>
        <p:sp>
          <p:nvSpPr>
            <p:cNvPr id="133"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34"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35" name="组合 56"/>
            <p:cNvGrpSpPr/>
            <p:nvPr/>
          </p:nvGrpSpPr>
          <p:grpSpPr>
            <a:xfrm rot="16200000">
              <a:off x="4093035" y="-642392"/>
              <a:ext cx="1134781" cy="1280371"/>
              <a:chOff x="8439634" y="3544648"/>
              <a:chExt cx="1611146" cy="1817848"/>
            </a:xfrm>
          </p:grpSpPr>
          <p:sp>
            <p:nvSpPr>
              <p:cNvPr id="136"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37"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38"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39" name="组合 2"/>
          <p:cNvGrpSpPr/>
          <p:nvPr/>
        </p:nvGrpSpPr>
        <p:grpSpPr>
          <a:xfrm>
            <a:off x="4349602" y="3669367"/>
            <a:ext cx="6399717" cy="1134781"/>
            <a:chOff x="3781167" y="-569597"/>
            <a:chExt cx="7100675" cy="1134781"/>
          </a:xfrm>
        </p:grpSpPr>
        <p:sp>
          <p:nvSpPr>
            <p:cNvPr id="140"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41"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zh-CN"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42" name="组合 5"/>
            <p:cNvGrpSpPr/>
            <p:nvPr/>
          </p:nvGrpSpPr>
          <p:grpSpPr>
            <a:xfrm rot="16200000">
              <a:off x="4093035" y="-642392"/>
              <a:ext cx="1134781" cy="1280371"/>
              <a:chOff x="8439634" y="3544648"/>
              <a:chExt cx="1611146" cy="1817848"/>
            </a:xfrm>
          </p:grpSpPr>
          <p:sp>
            <p:nvSpPr>
              <p:cNvPr id="143"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44"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45"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146" name="组合 1"/>
          <p:cNvGrpSpPr/>
          <p:nvPr/>
        </p:nvGrpSpPr>
        <p:grpSpPr>
          <a:xfrm>
            <a:off x="4317856" y="5060435"/>
            <a:ext cx="6431044" cy="1134781"/>
            <a:chOff x="3781167" y="-569597"/>
            <a:chExt cx="7100676" cy="1134781"/>
          </a:xfrm>
        </p:grpSpPr>
        <p:sp>
          <p:nvSpPr>
            <p:cNvPr id="147"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48"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49" name="组合 11"/>
            <p:cNvGrpSpPr/>
            <p:nvPr/>
          </p:nvGrpSpPr>
          <p:grpSpPr>
            <a:xfrm rot="16200000">
              <a:off x="4093035" y="-642392"/>
              <a:ext cx="1134781" cy="1280371"/>
              <a:chOff x="8439634" y="3544648"/>
              <a:chExt cx="1611146" cy="1817848"/>
            </a:xfrm>
          </p:grpSpPr>
          <p:sp>
            <p:nvSpPr>
              <p:cNvPr id="150"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151"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152"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实验</a:t>
            </a:r>
            <a:endParaRPr lang="zh-CN" altLang="en-US"/>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 name=""/>
        <p:cNvGrpSpPr/>
        <p:nvPr/>
      </p:nvGrpSpPr>
      <p:grpSpPr>
        <a:xfrm>
          <a:off x="0" y="0"/>
          <a:ext cx="0" cy="0"/>
          <a:chOff x="0" y="0"/>
          <a:chExt cx="0" cy="0"/>
        </a:xfrm>
      </p:grpSpPr>
      <p:sp>
        <p:nvSpPr>
          <p:cNvPr id="12" name="Freeform 5"/>
          <p:cNvSpPr/>
          <p:nvPr/>
        </p:nvSpPr>
        <p:spPr bwMode="auto">
          <a:xfrm>
            <a:off x="517332" y="2149125"/>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3" name="Freeform 5"/>
          <p:cNvSpPr/>
          <p:nvPr/>
        </p:nvSpPr>
        <p:spPr bwMode="auto">
          <a:xfrm>
            <a:off x="627578" y="2137743"/>
            <a:ext cx="2949995" cy="261455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91440" tIns="45720" rIns="91440" bIns="45720" numCol="1" anchor="t" anchorCtr="0" compatLnSpc="1"/>
          <a:lstStyle/>
          <a:p>
            <a:endParaRPr lang="zh-CN" altLang="en-US" sz="2665">
              <a:solidFill>
                <a:srgbClr val="005A9E"/>
              </a:solidFill>
              <a:latin typeface="Times New Roman" panose="02020603050405020304" pitchFamily="18" charset="0"/>
              <a:cs typeface="Times New Roman" panose="02020603050405020304" pitchFamily="18" charset="0"/>
              <a:sym typeface="+mn-lt"/>
            </a:endParaRPr>
          </a:p>
        </p:txBody>
      </p:sp>
      <p:sp>
        <p:nvSpPr>
          <p:cNvPr id="14" name="矩形 47"/>
          <p:cNvSpPr/>
          <p:nvPr/>
        </p:nvSpPr>
        <p:spPr>
          <a:xfrm>
            <a:off x="738485" y="2998128"/>
            <a:ext cx="2899077" cy="859155"/>
          </a:xfrm>
          <a:prstGeom prst="rect">
            <a:avLst/>
          </a:prstGeom>
        </p:spPr>
        <p:txBody>
          <a:bodyPr wrap="square" lIns="121891" tIns="60945" rIns="121891" bIns="60945">
            <a:spAutoFit/>
          </a:bodyPr>
          <a:lstStyle/>
          <a:p>
            <a:pPr defTabSz="1245235">
              <a:spcBef>
                <a:spcPts val="0"/>
              </a:spcBef>
              <a:spcAft>
                <a:spcPts val="0"/>
              </a:spcAft>
              <a:defRPr/>
            </a:pPr>
            <a:r>
              <a:rPr lang="en-US" altLang="zh-CN" sz="4800" kern="0" dirty="0">
                <a:solidFill>
                  <a:srgbClr val="005A9E"/>
                </a:solidFill>
                <a:latin typeface="Times New Roman" panose="02020603050405020304" pitchFamily="18" charset="0"/>
                <a:cs typeface="Times New Roman" panose="02020603050405020304" pitchFamily="18" charset="0"/>
                <a:sym typeface="+mn-lt"/>
              </a:rPr>
              <a:t>  Outline</a:t>
            </a:r>
            <a:endParaRPr lang="zh-CN" altLang="en-US" sz="4800" kern="0" dirty="0">
              <a:solidFill>
                <a:srgbClr val="005A9E"/>
              </a:solidFill>
              <a:latin typeface="Times New Roman" panose="02020603050405020304" pitchFamily="18" charset="0"/>
              <a:cs typeface="Times New Roman" panose="02020603050405020304" pitchFamily="18" charset="0"/>
              <a:sym typeface="+mn-lt"/>
            </a:endParaRPr>
          </a:p>
        </p:txBody>
      </p:sp>
      <p:grpSp>
        <p:nvGrpSpPr>
          <p:cNvPr id="15" name="组合 31"/>
          <p:cNvGrpSpPr/>
          <p:nvPr/>
        </p:nvGrpSpPr>
        <p:grpSpPr>
          <a:xfrm>
            <a:off x="4334366" y="867211"/>
            <a:ext cx="6431043" cy="1134781"/>
            <a:chOff x="3781167" y="-569597"/>
            <a:chExt cx="7100675" cy="1134781"/>
          </a:xfrm>
        </p:grpSpPr>
        <p:sp>
          <p:nvSpPr>
            <p:cNvPr id="16" name="六边形 32"/>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17" name="六边形 37"/>
            <p:cNvSpPr/>
            <p:nvPr/>
          </p:nvSpPr>
          <p:spPr>
            <a:xfrm>
              <a:off x="4660425" y="-394058"/>
              <a:ext cx="6085941" cy="811227"/>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背景</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18" name="组合 38"/>
            <p:cNvGrpSpPr/>
            <p:nvPr/>
          </p:nvGrpSpPr>
          <p:grpSpPr>
            <a:xfrm rot="16200000">
              <a:off x="4093035" y="-642392"/>
              <a:ext cx="1134781" cy="1280371"/>
              <a:chOff x="8439634" y="3544648"/>
              <a:chExt cx="1611146" cy="1817848"/>
            </a:xfrm>
          </p:grpSpPr>
          <p:sp>
            <p:nvSpPr>
              <p:cNvPr id="19"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20"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21" name="Rectangle 7"/>
            <p:cNvSpPr>
              <a:spLocks noChangeArrowheads="1"/>
            </p:cNvSpPr>
            <p:nvPr/>
          </p:nvSpPr>
          <p:spPr bwMode="auto">
            <a:xfrm>
              <a:off x="4381834" y="-290264"/>
              <a:ext cx="458762" cy="646331"/>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1</a:t>
              </a:r>
              <a:endParaRPr lang="zh-CN" altLang="en-US" sz="3600" dirty="0">
                <a:latin typeface="Times New Roman" panose="02020603050405020304" pitchFamily="18" charset="0"/>
                <a:cs typeface="Times New Roman" panose="02020603050405020304" pitchFamily="18" charset="0"/>
                <a:sym typeface="+mn-lt"/>
              </a:endParaRPr>
            </a:p>
          </p:txBody>
        </p:sp>
      </p:grpSp>
      <p:grpSp>
        <p:nvGrpSpPr>
          <p:cNvPr id="22" name="组合 43"/>
          <p:cNvGrpSpPr/>
          <p:nvPr/>
        </p:nvGrpSpPr>
        <p:grpSpPr>
          <a:xfrm>
            <a:off x="4334364" y="2284232"/>
            <a:ext cx="6399716" cy="1134781"/>
            <a:chOff x="3781167" y="-569597"/>
            <a:chExt cx="7100675" cy="1134781"/>
          </a:xfrm>
        </p:grpSpPr>
        <p:sp>
          <p:nvSpPr>
            <p:cNvPr id="23" name="六边形 44"/>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24" name="六边形 48"/>
            <p:cNvSpPr/>
            <p:nvPr/>
          </p:nvSpPr>
          <p:spPr>
            <a:xfrm>
              <a:off x="4660425" y="-394058"/>
              <a:ext cx="6085941" cy="811227"/>
            </a:xfrm>
            <a:prstGeom prst="hexagon">
              <a:avLst/>
            </a:prstGeom>
            <a:solidFill>
              <a:srgbClr val="3C6BC0"/>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方法</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25" name="组合 56"/>
            <p:cNvGrpSpPr/>
            <p:nvPr/>
          </p:nvGrpSpPr>
          <p:grpSpPr>
            <a:xfrm rot="16200000">
              <a:off x="4093035" y="-642392"/>
              <a:ext cx="1134781" cy="1280371"/>
              <a:chOff x="8439634" y="3544648"/>
              <a:chExt cx="1611146" cy="1817848"/>
            </a:xfrm>
          </p:grpSpPr>
          <p:sp>
            <p:nvSpPr>
              <p:cNvPr id="26"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27"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28" name="Rectangle 7"/>
            <p:cNvSpPr>
              <a:spLocks noChangeArrowheads="1"/>
            </p:cNvSpPr>
            <p:nvPr/>
          </p:nvSpPr>
          <p:spPr bwMode="auto">
            <a:xfrm>
              <a:off x="4384609"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2</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29" name="组合 2"/>
          <p:cNvGrpSpPr/>
          <p:nvPr/>
        </p:nvGrpSpPr>
        <p:grpSpPr>
          <a:xfrm>
            <a:off x="4349602" y="3669367"/>
            <a:ext cx="6399717" cy="1134781"/>
            <a:chOff x="3781167" y="-569597"/>
            <a:chExt cx="7100675" cy="1134781"/>
          </a:xfrm>
        </p:grpSpPr>
        <p:sp>
          <p:nvSpPr>
            <p:cNvPr id="30" name="六边形 3"/>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gradFill>
                <a:gsLst>
                  <a:gs pos="0">
                    <a:schemeClr val="bg1">
                      <a:lumMod val="71000"/>
                      <a:lumOff val="29000"/>
                    </a:schemeClr>
                  </a:gs>
                  <a:gs pos="100000">
                    <a:schemeClr val="bg1">
                      <a:lumMod val="85000"/>
                    </a:schemeClr>
                  </a:gs>
                </a:gsLst>
                <a:lin ang="5400000" scaled="0"/>
              </a:gra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31" name="六边形 4"/>
            <p:cNvSpPr/>
            <p:nvPr/>
          </p:nvSpPr>
          <p:spPr>
            <a:xfrm>
              <a:off x="4643649" y="-310606"/>
              <a:ext cx="6007989" cy="721882"/>
            </a:xfrm>
            <a:prstGeom prst="hexagon">
              <a:avLst/>
            </a:prstGeom>
            <a:solidFill>
              <a:schemeClr val="accent5">
                <a:lumMod val="60000"/>
                <a:lumOff val="40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rPr>
                <a:t>实验</a:t>
              </a:r>
              <a:endParaRPr lang="zh-CN" altLang="en-US" sz="3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32" name="组合 5"/>
            <p:cNvGrpSpPr/>
            <p:nvPr/>
          </p:nvGrpSpPr>
          <p:grpSpPr>
            <a:xfrm rot="16200000">
              <a:off x="4093035" y="-642392"/>
              <a:ext cx="1134781" cy="1280371"/>
              <a:chOff x="8439634" y="3544648"/>
              <a:chExt cx="1611146" cy="1817848"/>
            </a:xfrm>
          </p:grpSpPr>
          <p:sp>
            <p:nvSpPr>
              <p:cNvPr id="33"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34"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gradFill flip="none" rotWithShape="1">
                  <a:gsLst>
                    <a:gs pos="0">
                      <a:schemeClr val="bg1">
                        <a:lumMod val="65000"/>
                      </a:schemeClr>
                    </a:gs>
                    <a:gs pos="100000">
                      <a:schemeClr val="bg1"/>
                    </a:gs>
                  </a:gsLst>
                  <a:lin ang="2700000" scaled="1"/>
                  <a:tileRect/>
                </a:gra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35" name="Rectangle 7"/>
            <p:cNvSpPr>
              <a:spLocks noChangeArrowheads="1"/>
            </p:cNvSpPr>
            <p:nvPr/>
          </p:nvSpPr>
          <p:spPr bwMode="auto">
            <a:xfrm>
              <a:off x="4386095" y="-290264"/>
              <a:ext cx="456549"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3</a:t>
              </a:r>
              <a:endParaRPr lang="en-US" altLang="zh-CN" sz="3600" dirty="0">
                <a:latin typeface="Times New Roman" panose="02020603050405020304" pitchFamily="18" charset="0"/>
                <a:cs typeface="Times New Roman" panose="02020603050405020304" pitchFamily="18" charset="0"/>
                <a:sym typeface="+mn-lt"/>
              </a:endParaRPr>
            </a:p>
          </p:txBody>
        </p:sp>
      </p:grpSp>
      <p:grpSp>
        <p:nvGrpSpPr>
          <p:cNvPr id="36" name="组合 1"/>
          <p:cNvGrpSpPr/>
          <p:nvPr/>
        </p:nvGrpSpPr>
        <p:grpSpPr>
          <a:xfrm>
            <a:off x="4317856" y="5060435"/>
            <a:ext cx="6431044" cy="1134781"/>
            <a:chOff x="3781167" y="-569597"/>
            <a:chExt cx="7100676" cy="1134781"/>
          </a:xfrm>
        </p:grpSpPr>
        <p:sp>
          <p:nvSpPr>
            <p:cNvPr id="37" name="六边形 9"/>
            <p:cNvSpPr/>
            <p:nvPr/>
          </p:nvSpPr>
          <p:spPr>
            <a:xfrm>
              <a:off x="3781167" y="-486605"/>
              <a:ext cx="7100675" cy="1008112"/>
            </a:xfrm>
            <a:prstGeom prst="hexagon">
              <a:avLst/>
            </a:prstGeom>
            <a:gradFill flip="none" rotWithShape="1">
              <a:gsLst>
                <a:gs pos="0">
                  <a:schemeClr val="bg1">
                    <a:lumMod val="85000"/>
                    <a:lumOff val="15000"/>
                  </a:schemeClr>
                </a:gs>
                <a:gs pos="100000">
                  <a:schemeClr val="bg1">
                    <a:lumMod val="85000"/>
                  </a:schemeClr>
                </a:gs>
              </a:gsLst>
              <a:lin ang="13500000" scaled="1"/>
              <a:tileRect/>
            </a:gradFill>
            <a:ln>
              <a:solidFill>
                <a:srgbClr val="FFFFFF"/>
              </a:solidFill>
            </a:ln>
            <a:effectLst>
              <a:outerShdw blurRad="482600" dist="241300" dir="2700000" algn="tl"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665">
                <a:latin typeface="Times New Roman" panose="02020603050405020304" pitchFamily="18" charset="0"/>
                <a:cs typeface="Times New Roman" panose="02020603050405020304" pitchFamily="18" charset="0"/>
                <a:sym typeface="+mn-lt"/>
              </a:endParaRPr>
            </a:p>
          </p:txBody>
        </p:sp>
        <p:sp>
          <p:nvSpPr>
            <p:cNvPr id="38" name="六边形 10"/>
            <p:cNvSpPr/>
            <p:nvPr/>
          </p:nvSpPr>
          <p:spPr>
            <a:xfrm>
              <a:off x="4660424" y="-394058"/>
              <a:ext cx="6221419" cy="811227"/>
            </a:xfrm>
            <a:prstGeom prst="hexagon">
              <a:avLst/>
            </a:prstGeom>
            <a:solidFill>
              <a:srgbClr val="3C6BC0"/>
            </a:solidFill>
            <a:ln>
              <a:solidFill>
                <a:srgbClr val="FFFFFF"/>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总结</a:t>
              </a:r>
              <a:endParaRPr lang="zh-CN" altLang="en-US" sz="36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39" name="组合 11"/>
            <p:cNvGrpSpPr/>
            <p:nvPr/>
          </p:nvGrpSpPr>
          <p:grpSpPr>
            <a:xfrm rot="16200000">
              <a:off x="4093035" y="-642392"/>
              <a:ext cx="1134781" cy="1280371"/>
              <a:chOff x="8439634" y="3544648"/>
              <a:chExt cx="1611146" cy="1817848"/>
            </a:xfrm>
          </p:grpSpPr>
          <p:sp>
            <p:nvSpPr>
              <p:cNvPr id="40" name="Freeform 5"/>
              <p:cNvSpPr/>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97000"/>
                    </a:schemeClr>
                  </a:gs>
                  <a:gs pos="100000">
                    <a:schemeClr val="bg1">
                      <a:lumMod val="85000"/>
                    </a:schemeClr>
                  </a:gs>
                </a:gsLst>
                <a:lin ang="2700000" scaled="1"/>
                <a:tileRect/>
              </a:gradFill>
              <a:ln w="19050">
                <a:solidFill>
                  <a:srgbClr val="FFFFFF"/>
                </a:solidFill>
              </a:ln>
              <a:effectLst>
                <a:outerShdw blurRad="127000" dist="50800" dir="2700000" algn="tl" rotWithShape="0">
                  <a:prstClr val="black">
                    <a:alpha val="40000"/>
                  </a:prstClr>
                </a:out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sp>
            <p:nvSpPr>
              <p:cNvPr id="41" name="Freeform 5"/>
              <p:cNvSpPr/>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2">
                  <a:lumMod val="75000"/>
                </a:schemeClr>
              </a:solidFill>
              <a:ln w="15875">
                <a:solidFill>
                  <a:srgbClr val="FFFFFF"/>
                </a:solidFill>
              </a:ln>
              <a:effectLst>
                <a:innerShdw blurRad="50800" dist="25400" dir="13500000">
                  <a:prstClr val="black">
                    <a:alpha val="50000"/>
                  </a:prstClr>
                </a:innerShdw>
              </a:effectLst>
            </p:spPr>
            <p:txBody>
              <a:bodyPr vert="horz" wrap="square" lIns="121920" tIns="60960" rIns="121920" bIns="60960" numCol="1" anchor="t" anchorCtr="0" compatLnSpc="1"/>
              <a:lstStyle/>
              <a:p>
                <a:endParaRPr lang="zh-CN" altLang="en-US" sz="2665">
                  <a:solidFill>
                    <a:prstClr val="black"/>
                  </a:solidFill>
                  <a:latin typeface="Times New Roman" panose="02020603050405020304" pitchFamily="18" charset="0"/>
                  <a:cs typeface="Times New Roman" panose="02020603050405020304" pitchFamily="18" charset="0"/>
                  <a:sym typeface="+mn-lt"/>
                </a:endParaRPr>
              </a:p>
            </p:txBody>
          </p:sp>
        </p:grpSp>
        <p:sp>
          <p:nvSpPr>
            <p:cNvPr id="42" name="Rectangle 7"/>
            <p:cNvSpPr>
              <a:spLocks noChangeArrowheads="1"/>
            </p:cNvSpPr>
            <p:nvPr/>
          </p:nvSpPr>
          <p:spPr bwMode="auto">
            <a:xfrm>
              <a:off x="4386095" y="-290264"/>
              <a:ext cx="454325" cy="645160"/>
            </a:xfrm>
            <a:prstGeom prst="rect">
              <a:avLst/>
            </a:prstGeom>
            <a:noFill/>
            <a:ln w="9525">
              <a:noFill/>
              <a:miter lim="800000"/>
            </a:ln>
          </p:spPr>
          <p:txBody>
            <a:bodyPr wrap="none" lIns="91440" tIns="45720" rIns="91440" bIns="45720">
              <a:spAutoFit/>
            </a:bodyPr>
            <a:lstStyle/>
            <a:p>
              <a:r>
                <a:rPr lang="en-US" altLang="zh-CN" sz="3600" dirty="0">
                  <a:latin typeface="Times New Roman" panose="02020603050405020304" pitchFamily="18" charset="0"/>
                  <a:cs typeface="Times New Roman" panose="02020603050405020304" pitchFamily="18" charset="0"/>
                  <a:sym typeface="+mn-lt"/>
                </a:rPr>
                <a:t>4</a:t>
              </a:r>
              <a:endParaRPr lang="en-US" altLang="zh-CN" sz="3600" dirty="0">
                <a:latin typeface="Times New Roman" panose="02020603050405020304" pitchFamily="18" charset="0"/>
                <a:cs typeface="Times New Roman" panose="02020603050405020304" pitchFamily="18" charset="0"/>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100">
        <p14:prism/>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endParaRPr lang="zh-CN" altLang="en-US"/>
          </a:p>
        </p:txBody>
      </p:sp>
      <p:sp>
        <p:nvSpPr>
          <p:cNvPr id="3" name="标题 2"/>
          <p:cNvSpPr>
            <a:spLocks noGrp="1"/>
          </p:cNvSpPr>
          <p:nvPr>
            <p:ph type="title"/>
          </p:nvPr>
        </p:nvSpPr>
        <p:spPr/>
        <p:txBody>
          <a:bodyPr/>
          <a:p>
            <a:r>
              <a:rPr lang="zh-CN" altLang="en-US"/>
              <a:t>总结</a:t>
            </a:r>
            <a:endParaRPr lang="zh-CN" altLang="en-US"/>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8910955" cy="768985"/>
          </a:xfrm>
        </p:spPr>
        <p:txBody>
          <a:bodyPr>
            <a:normAutofit/>
          </a:bodyPr>
          <a:p>
            <a:r>
              <a:rPr lang="zh-CN" altLang="en-US"/>
              <a:t>方法-</a:t>
            </a:r>
            <a:r>
              <a:rPr lang="en-US" altLang="zh-CN"/>
              <a:t>Stage 3.1：Original Violation Detection</a:t>
            </a:r>
            <a:endParaRPr lang="en-US" altLang="zh-CN"/>
          </a:p>
        </p:txBody>
      </p:sp>
      <p:sp>
        <p:nvSpPr>
          <p:cNvPr id="3" name="">
            <a:extLst>
              <a:ext uri="{FF2B5EF4-FFF2-40B4-BE49-F238E27FC236}">
                <a16:creationId xmlns:a16="http://schemas.microsoft.com/office/drawing/2014/main" id="{2EB479ED-06C7-4ACE-9FE6-853244CA788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③ 错误执行者  Incorrect Actor（Definition 6）</a:t>
            </a:r>
          </a:p>
        </p:txBody>
      </p:sp>
      <p:sp>
        <p:nvSpPr>
          <p:cNvPr id="4" name="EQ:actor">
            <a:extLst>
              <a:ext uri="{FF2B5EF4-FFF2-40B4-BE49-F238E27FC236}">
                <a16:creationId xmlns:a16="http://schemas.microsoft.com/office/drawing/2014/main" id="{E320BA24-2ECB-472A-9B5C-76F3D89F3840}"/>
              </a:ext>
            </a:extLst>
          </p:cNvPr>
          <p:cNvSpPr>
            <a:spLocks noGrp="1"/>
          </p:cNvSpPr>
          <p:nvPr/>
        </p:nvSpPr>
        <p:spPr>
          <a:xfrm>
            <a:off x="428625" y="1228725"/>
            <a:ext cx="11239500" cy="8286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300">
                      <a:latin typeface="Cambria Math"/>
                    </a:rPr>
                    <m:t xml:space="preserve">actor_violation(r,m,γ,ϑ) = </m:t>
                  </m:r>
                  <m:f>
                    <m:num>
                      <m:r>
                        <m:rPr>
                          <m:sty m:val="p"/>
                        </m:rPr>
                        <a:rPr lang="en-US" sz="2300">
                          <a:latin typeface="Cambria Math"/>
                        </a:rPr>
                        <m:t xml:space="preserve">|</m:t>
                      </m:r>
                      <m:r>
                        <m:rPr>
                          <m:sty m:val="p"/>
                        </m:rPr>
                        <a:rPr lang="en-US" sz="2300">
                          <a:latin typeface="Cambria Math"/>
                        </a:rPr>
                        <m:t xml:space="preserve">{x∈</m:t>
                      </m:r>
                      <m:sSub>
                        <m:e>
                          <m:r>
                            <m:rPr>
                              <m:sty m:val="p"/>
                            </m:rPr>
                            <a:rPr lang="en-US" sz="2300">
                              <a:latin typeface="Cambria Math"/>
                            </a:rPr>
                            <m:t xml:space="preserve">R</m:t>
                          </m:r>
                        </m:e>
                        <m:sub>
                          <m:r>
                            <m:rPr>
                              <m:sty m:val="p"/>
                            </m:rPr>
                            <a:rPr lang="en-US" sz="2300">
                              <a:latin typeface="Cambria Math"/>
                            </a:rPr>
                            <m:t xml:space="preserve">r,m,γ</m:t>
                          </m:r>
                        </m:sub>
                      </m:sSub>
                      <m:r>
                        <m:rPr>
                          <m:sty m:val="p"/>
                        </m:rPr>
                        <a:rPr lang="en-US" sz="2300">
                          <a:latin typeface="Cambria Math"/>
                        </a:rPr>
                        <m:t xml:space="preserve"> : ∃y∈</m:t>
                      </m:r>
                      <m:sSub>
                        <m:e>
                          <m:r>
                            <m:rPr>
                              <m:sty m:val="p"/>
                            </m:rPr>
                            <a:rPr lang="en-US" sz="2300">
                              <a:latin typeface="Cambria Math"/>
                            </a:rPr>
                            <m:t xml:space="preserve">C</m:t>
                          </m:r>
                        </m:e>
                        <m:sub>
                          <m:r>
                            <m:rPr>
                              <m:sty m:val="p"/>
                            </m:rPr>
                            <a:rPr lang="en-US" sz="2300">
                              <a:latin typeface="Cambria Math"/>
                            </a:rPr>
                            <m:t xml:space="preserve">r,m,γ</m:t>
                          </m:r>
                        </m:sub>
                      </m:sSub>
                      <m:r>
                        <m:rPr>
                          <m:sty m:val="p"/>
                        </m:rPr>
                        <a:rPr lang="en-US" sz="2300">
                          <a:latin typeface="Cambria Math"/>
                        </a:rPr>
                        <m:t xml:space="preserve">, sim(x,y) &lt; ϑ}</m:t>
                      </m:r>
                      <m:r>
                        <m:rPr>
                          <m:sty m:val="p"/>
                        </m:rPr>
                        <a:rPr lang="en-US" sz="2300">
                          <a:latin typeface="Cambria Math"/>
                        </a:rPr>
                        <m:t xml:space="preserve">|</m:t>
                      </m:r>
                    </m:num>
                    <m:den>
                      <m:r>
                        <m:rPr>
                          <m:sty m:val="p"/>
                        </m:rPr>
                        <a:rPr lang="en-US" sz="2300">
                          <a:latin typeface="Cambria Math"/>
                        </a:rPr>
                        <m:t xml:space="preserve">|</m:t>
                      </m:r>
                      <m:sSub>
                        <m:e>
                          <m:r>
                            <m:rPr>
                              <m:sty m:val="p"/>
                            </m:rPr>
                            <a:rPr lang="en-US" sz="2300">
                              <a:latin typeface="Cambria Math"/>
                            </a:rPr>
                            <m:t xml:space="preserve">R</m:t>
                          </m:r>
                        </m:e>
                        <m:sub>
                          <m:r>
                            <m:rPr>
                              <m:sty m:val="p"/>
                            </m:rPr>
                            <a:rPr lang="en-US" sz="2300">
                              <a:latin typeface="Cambria Math"/>
                            </a:rPr>
                            <m:t xml:space="preserve">r,m,γ</m:t>
                          </m:r>
                        </m:sub>
                      </m:sSub>
                      <m:r>
                        <m:rPr>
                          <m:sty m:val="p"/>
                        </m:rPr>
                        <a:rPr lang="en-US" sz="2300">
                          <a:latin typeface="Cambria Math"/>
                        </a:rPr>
                        <m:t xml:space="preserve">|</m:t>
                      </m:r>
                    </m:den>
                  </m:f>
                </m:oMath>
              </m:oMathPara>
            </a14:m>
            <a:endParaRPr lang="en-US" sz="2300"/>
          </a:p>
        </p:txBody>
      </p:sp>
      <p:sp>
        <p:nvSpPr>
          <p:cNvPr id="5" name="">
            <a:extLst>
              <a:ext uri="{FF2B5EF4-FFF2-40B4-BE49-F238E27FC236}">
                <a16:creationId xmlns:a16="http://schemas.microsoft.com/office/drawing/2014/main" id="{CD9584D9-BCF0-4B6D-B0A1-D913FBFE31D6}"/>
              </a:ext>
            </a:extLst>
          </p:cNvPr>
          <p:cNvSpPr>
            <a:spLocks noGrp="1"/>
          </p:cNvSpPr>
          <p:nvPr/>
        </p:nvSpPr>
        <p:spPr>
          <a:xfrm>
            <a:off x="428625" y="210502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R</a:t>
            </a:r>
            <a:r>
              <a:rPr sz="1242" b="0" baseline="-22000">
                <a:solidFill>
                  <a:srgbClr val="111111"/>
                </a:solidFill>
                <a:latin typeface="微软雅黑"/>
                <a:ea typeface="微软雅黑"/>
                <a:cs typeface="微软雅黑"/>
              </a:rPr>
              <a:t>r,m,γ</a:t>
            </a:r>
            <a:r>
              <a:rPr sz="1725" b="0">
                <a:solidFill>
                  <a:srgbClr val="111111"/>
                </a:solidFill>
                <a:latin typeface="微软雅黑"/>
                <a:ea typeface="微软雅黑"/>
                <a:cs typeface="微软雅黑"/>
              </a:rPr>
              <a:t>：法规中负责已成功匹配动作的 Actor 集合。</a:t>
            </a:r>
          </a:p>
        </p:txBody>
      </p:sp>
      <p:sp>
        <p:nvSpPr>
          <p:cNvPr id="6" name="">
            <a:extLst>
              <a:ext uri="{FF2B5EF4-FFF2-40B4-BE49-F238E27FC236}">
                <a16:creationId xmlns:a16="http://schemas.microsoft.com/office/drawing/2014/main" id="{7B5F443A-9BDB-432C-A6AA-3F63713F9CC2}"/>
              </a:ext>
            </a:extLst>
          </p:cNvPr>
          <p:cNvSpPr>
            <a:spLocks noGrp="1"/>
          </p:cNvSpPr>
          <p:nvPr/>
        </p:nvSpPr>
        <p:spPr>
          <a:xfrm>
            <a:off x="428625" y="2447925"/>
            <a:ext cx="11239500" cy="381000"/>
          </a:xfrm>
          <a:prstGeom prst="rect">
            <a:avLst/>
          </a:prstGeom>
          <a:noFill/>
          <a:ln w="0">
            <a:noFill/>
          </a:ln>
        </p:spPr>
        <p:txBody>
          <a:bodyPr anchor="ctr">
            <a:noAutofit/>
          </a:bodyPr>
          <a:lstStyle/>
          <a:p>
            <a:pPr>
              <a:defRPr sz="1725" b="0">
                <a:solidFill>
                  <a:srgbClr val="111111"/>
                </a:solidFill>
                <a:latin typeface="微软雅黑"/>
                <a:ea typeface="微软雅黑"/>
                <a:cs typeface="微软雅黑"/>
              </a:defRPr>
            </a:pPr>
            <a:r>
              <a:rPr sz="1725" b="0">
                <a:solidFill>
                  <a:srgbClr val="111111"/>
                </a:solidFill>
                <a:latin typeface="微软雅黑"/>
                <a:ea typeface="微软雅黑"/>
                <a:cs typeface="微软雅黑"/>
              </a:rPr>
              <a:t>C</a:t>
            </a:r>
            <a:r>
              <a:rPr sz="1242" b="0" baseline="-22000">
                <a:solidFill>
                  <a:srgbClr val="111111"/>
                </a:solidFill>
                <a:latin typeface="微软雅黑"/>
                <a:ea typeface="微软雅黑"/>
                <a:cs typeface="微软雅黑"/>
              </a:rPr>
              <a:t>r,m,γ</a:t>
            </a:r>
            <a:r>
              <a:rPr sz="1725" b="0">
                <a:solidFill>
                  <a:srgbClr val="111111"/>
                </a:solidFill>
                <a:latin typeface="微软雅黑"/>
                <a:ea typeface="微软雅黑"/>
                <a:cs typeface="微软雅黑"/>
              </a:rPr>
              <a:t>：流程中对应动作关联的 Actor／Business Object 候选集合。</a:t>
            </a:r>
          </a:p>
        </p:txBody>
      </p:sp>
      <p:sp>
        <p:nvSpPr>
          <p:cNvPr id="7" name="">
            <a:extLst>
              <a:ext uri="{FF2B5EF4-FFF2-40B4-BE49-F238E27FC236}">
                <a16:creationId xmlns:a16="http://schemas.microsoft.com/office/drawing/2014/main" id="{7B1EB8A5-645E-4176-8427-BC3D943B8DAB}"/>
              </a:ext>
            </a:extLst>
          </p:cNvPr>
          <p:cNvSpPr>
            <a:spLocks noGrp="1"/>
          </p:cNvSpPr>
          <p:nvPr/>
        </p:nvSpPr>
        <p:spPr>
          <a:xfrm>
            <a:off x="428625" y="2790825"/>
            <a:ext cx="11239500" cy="381000"/>
          </a:xfrm>
          <a:prstGeom prst="rect">
            <a:avLst/>
          </a:prstGeom>
          <a:noFill/>
          <a:ln w="0">
            <a:noFill/>
          </a:ln>
        </p:spPr>
        <p:txBody>
          <a:bodyPr anchor="ctr">
            <a:noAutofit/>
          </a:bodyPr>
          <a:lstStyle/>
          <a:p>
            <a:pPr>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ϑ：执行者相似度阈值。原式保留存在量词 ∃，多候选时对不相似项较敏感。</a:t>
            </a:r>
          </a:p>
        </p:txBody>
      </p:sp>
      <p:sp>
        <p:nvSpPr>
          <p:cNvPr id="8" name="">
            <a:extLst>
              <a:ext uri="{FF2B5EF4-FFF2-40B4-BE49-F238E27FC236}">
                <a16:creationId xmlns:a16="http://schemas.microsoft.com/office/drawing/2014/main" id="{DD9F7244-E4BF-4BBF-83DB-11FDC067F983}"/>
              </a:ext>
            </a:extLst>
          </p:cNvPr>
          <p:cNvSpPr>
            <a:spLocks noGrp="1"/>
          </p:cNvSpPr>
          <p:nvPr/>
        </p:nvSpPr>
        <p:spPr>
          <a:xfrm>
            <a:off x="361950" y="328612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④ 错序执行  Out-of-order Execution（Definition 7）</a:t>
            </a:r>
          </a:p>
        </p:txBody>
      </p:sp>
      <p:sp>
        <p:nvSpPr>
          <p:cNvPr id="9" name="EQ:order">
            <a:extLst>
              <a:ext uri="{FF2B5EF4-FFF2-40B4-BE49-F238E27FC236}">
                <a16:creationId xmlns:a16="http://schemas.microsoft.com/office/drawing/2014/main" id="{AE4D8CEF-2E03-407B-A10E-42579517028F}"/>
              </a:ext>
            </a:extLst>
          </p:cNvPr>
          <p:cNvSpPr>
            <a:spLocks noGrp="1"/>
          </p:cNvSpPr>
          <p:nvPr/>
        </p:nvSpPr>
        <p:spPr>
          <a:xfrm>
            <a:off x="428625" y="3648075"/>
            <a:ext cx="11239500" cy="7620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600">
                      <a:latin typeface="Cambria Math"/>
                    </a:rPr>
                    <m:t xml:space="preserve">order_violation(r,m,γ) = </m:t>
                  </m:r>
                  <m:f>
                    <m:num>
                      <m:r>
                        <m:rPr>
                          <m:sty m:val="p"/>
                        </m:rPr>
                        <a:rPr lang="en-US" sz="2600">
                          <a:latin typeface="Cambria Math"/>
                        </a:rPr>
                        <m:t xml:space="preserve">|</m:t>
                      </m:r>
                      <m:sSub>
                        <m:e>
                          <m:r>
                            <m:rPr>
                              <m:sty m:val="p"/>
                            </m:rPr>
                            <a:rPr lang="en-US" sz="2600">
                              <a:latin typeface="Cambria Math"/>
                            </a:rPr>
                            <m:t xml:space="preserve">U</m:t>
                          </m:r>
                        </m:e>
                        <m:sub>
                          <m:r>
                            <m:rPr>
                              <m:sty m:val="p"/>
                            </m:rPr>
                            <a:rPr lang="en-US" sz="2600">
                              <a:latin typeface="Cambria Math"/>
                            </a:rPr>
                            <m:t xml:space="preserve">r,m,γ</m:t>
                          </m:r>
                        </m:sub>
                      </m:sSub>
                      <m:r>
                        <m:rPr>
                          <m:sty m:val="p"/>
                        </m:rPr>
                        <a:rPr lang="en-US" sz="2600">
                          <a:latin typeface="Cambria Math"/>
                        </a:rPr>
                        <m:t xml:space="preserve">|</m:t>
                      </m:r>
                      <m:r>
                        <m:rPr>
                          <m:sty m:val="p"/>
                        </m:rPr>
                        <a:rPr lang="en-US" sz="2600">
                          <a:latin typeface="Cambria Math"/>
                        </a:rPr>
                        <m:t xml:space="preserve"> − |K|</m:t>
                      </m:r>
                    </m:num>
                    <m:den>
                      <m:r>
                        <m:rPr>
                          <m:sty m:val="p"/>
                        </m:rPr>
                        <a:rPr lang="en-US" sz="2600">
                          <a:latin typeface="Cambria Math"/>
                        </a:rPr>
                        <m:t xml:space="preserve">|</m:t>
                      </m:r>
                      <m:sSub>
                        <m:e>
                          <m:r>
                            <m:rPr>
                              <m:sty m:val="p"/>
                            </m:rPr>
                            <a:rPr lang="en-US" sz="2600">
                              <a:latin typeface="Cambria Math"/>
                            </a:rPr>
                            <m:t xml:space="preserve">U</m:t>
                          </m:r>
                        </m:e>
                        <m:sub>
                          <m:r>
                            <m:rPr>
                              <m:sty m:val="p"/>
                            </m:rPr>
                            <a:rPr lang="en-US" sz="2600">
                              <a:latin typeface="Cambria Math"/>
                            </a:rPr>
                            <m:t xml:space="preserve">r,m,γ</m:t>
                          </m:r>
                        </m:sub>
                      </m:sSub>
                      <m:r>
                        <m:rPr>
                          <m:sty m:val="p"/>
                        </m:rPr>
                        <a:rPr lang="en-US" sz="2600">
                          <a:latin typeface="Cambria Math"/>
                        </a:rPr>
                        <m:t xml:space="preserve">|</m:t>
                      </m:r>
                    </m:den>
                  </m:f>
                </m:oMath>
              </m:oMathPara>
            </a14:m>
            <a:endParaRPr lang="en-US" sz="2600"/>
          </a:p>
        </p:txBody>
      </p:sp>
      <p:sp>
        <p:nvSpPr>
          <p:cNvPr id="10" name="EQ:correct_order">
            <a:extLst>
              <a:ext uri="{FF2B5EF4-FFF2-40B4-BE49-F238E27FC236}">
                <a16:creationId xmlns:a16="http://schemas.microsoft.com/office/drawing/2014/main" id="{36AB3EFC-E5ED-4286-9E2B-B2FE39AEE609}"/>
              </a:ext>
            </a:extLst>
          </p:cNvPr>
          <p:cNvSpPr>
            <a:spLocks noGrp="1"/>
          </p:cNvSpPr>
          <p:nvPr/>
        </p:nvSpPr>
        <p:spPr>
          <a:xfrm>
            <a:off x="428625" y="4438650"/>
            <a:ext cx="11239500" cy="4572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r>
                    <m:rPr>
                      <m:sty m:val="p"/>
                    </m:rPr>
                    <a:rPr lang="en-US" sz="2100">
                      <a:latin typeface="Cambria Math"/>
                    </a:rPr>
                    <m:t xml:space="preserve">K = {(u,v)∈</m:t>
                  </m:r>
                  <m:sSub>
                    <m:e>
                      <m:r>
                        <m:rPr>
                          <m:sty m:val="p"/>
                        </m:rPr>
                        <a:rPr lang="en-US" sz="2100">
                          <a:latin typeface="Cambria Math"/>
                        </a:rPr>
                        <m:t xml:space="preserve">U</m:t>
                      </m:r>
                    </m:e>
                    <m:sub>
                      <m:r>
                        <m:rPr>
                          <m:sty m:val="p"/>
                        </m:rPr>
                        <a:rPr lang="en-US" sz="2100">
                          <a:latin typeface="Cambria Math"/>
                        </a:rPr>
                        <m:t xml:space="preserve">r,m,γ</m:t>
                      </m:r>
                    </m:sub>
                  </m:sSub>
                  <m:r>
                    <m:rPr>
                      <m:sty m:val="p"/>
                    </m:rPr>
                    <a:rPr lang="en-US" sz="2100">
                      <a:latin typeface="Cambria Math"/>
                    </a:rPr>
                    <m:t xml:space="preserve"> : (φ(u),φ(v))∈</m:t>
                  </m:r>
                  <m:sSub>
                    <m:e>
                      <m:r>
                        <m:rPr>
                          <m:sty m:val="p"/>
                        </m:rPr>
                        <a:rPr lang="en-US" sz="2100">
                          <a:latin typeface="Cambria Math"/>
                        </a:rPr>
                        <m:t xml:space="preserve">F</m:t>
                      </m:r>
                    </m:e>
                    <m:sub>
                      <m:r>
                        <m:rPr>
                          <m:sty m:val="p"/>
                        </m:rPr>
                        <a:rPr lang="en-US" sz="2100">
                          <a:latin typeface="Cambria Math"/>
                        </a:rPr>
                        <m:t xml:space="preserve">m</m:t>
                      </m:r>
                    </m:sub>
                  </m:sSub>
                  <m:r>
                    <m:rPr>
                      <m:sty m:val="p"/>
                    </m:rPr>
                    <a:rPr lang="en-US" sz="2100">
                      <a:latin typeface="Cambria Math"/>
                    </a:rPr>
                    <m:t xml:space="preserve"> ∧ (φ(v),φ(u))∉</m:t>
                  </m:r>
                  <m:sSub>
                    <m:e>
                      <m:r>
                        <m:rPr>
                          <m:sty m:val="p"/>
                        </m:rPr>
                        <a:rPr lang="en-US" sz="2100">
                          <a:latin typeface="Cambria Math"/>
                        </a:rPr>
                        <m:t xml:space="preserve">F</m:t>
                      </m:r>
                    </m:e>
                    <m:sub>
                      <m:r>
                        <m:rPr>
                          <m:sty m:val="p"/>
                        </m:rPr>
                        <a:rPr lang="en-US" sz="2100">
                          <a:latin typeface="Cambria Math"/>
                        </a:rPr>
                        <m:t xml:space="preserve">m</m:t>
                      </m:r>
                    </m:sub>
                  </m:sSub>
                  <m:r>
                    <m:rPr>
                      <m:sty m:val="p"/>
                    </m:rPr>
                    <a:rPr lang="en-US" sz="2100">
                      <a:latin typeface="Cambria Math"/>
                    </a:rPr>
                    <m:t xml:space="preserve">}</m:t>
                  </m:r>
                </m:oMath>
              </m:oMathPara>
            </a14:m>
            <a:endParaRPr lang="en-US" sz="2100"/>
          </a:p>
        </p:txBody>
      </p:sp>
      <p:sp>
        <p:nvSpPr>
          <p:cNvPr id="11" name="">
            <a:extLst>
              <a:ext uri="{FF2B5EF4-FFF2-40B4-BE49-F238E27FC236}">
                <a16:creationId xmlns:a16="http://schemas.microsoft.com/office/drawing/2014/main" id="{D943168F-0795-40BB-B07D-804A80D347D4}"/>
              </a:ext>
            </a:extLst>
          </p:cNvPr>
          <p:cNvSpPr>
            <a:spLocks noGrp="1"/>
          </p:cNvSpPr>
          <p:nvPr/>
        </p:nvSpPr>
        <p:spPr>
          <a:xfrm>
            <a:off x="428625" y="49720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U</a:t>
            </a:r>
            <a:r>
              <a:rPr sz="1188" b="0" baseline="-22000">
                <a:solidFill>
                  <a:srgbClr val="111111"/>
                </a:solidFill>
                <a:latin typeface="微软雅黑"/>
                <a:ea typeface="微软雅黑"/>
                <a:cs typeface="微软雅黑"/>
              </a:rPr>
              <a:t>r,m,γ</a:t>
            </a:r>
            <a:r>
              <a:rPr sz="1650" b="0">
                <a:solidFill>
                  <a:srgbClr val="111111"/>
                </a:solidFill>
                <a:latin typeface="微软雅黑"/>
                <a:ea typeface="微软雅黑"/>
                <a:cs typeface="微软雅黑"/>
              </a:rPr>
              <a:t>：法规顺序约束中，两个端点均以 sim &gt; γ 匹配成功的关系。</a:t>
            </a:r>
          </a:p>
        </p:txBody>
      </p:sp>
      <p:sp>
        <p:nvSpPr>
          <p:cNvPr id="12" name="">
            <a:extLst>
              <a:ext uri="{FF2B5EF4-FFF2-40B4-BE49-F238E27FC236}">
                <a16:creationId xmlns:a16="http://schemas.microsoft.com/office/drawing/2014/main" id="{978DAA68-D483-4077-B341-5CA21E10C658}"/>
              </a:ext>
            </a:extLst>
          </p:cNvPr>
          <p:cNvSpPr>
            <a:spLocks noGrp="1"/>
          </p:cNvSpPr>
          <p:nvPr/>
        </p:nvSpPr>
        <p:spPr>
          <a:xfrm>
            <a:off x="428625" y="53149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K：顺序正确关系集。φ(u) 为 u 映射的流程动作，F</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 表示流程可达关系。</a:t>
            </a:r>
          </a:p>
        </p:txBody>
      </p:sp>
      <p:sp>
        <p:nvSpPr>
          <p:cNvPr id="13" name="">
            <a:extLst>
              <a:ext uri="{FF2B5EF4-FFF2-40B4-BE49-F238E27FC236}">
                <a16:creationId xmlns:a16="http://schemas.microsoft.com/office/drawing/2014/main" id="{CAF988F7-0151-4B3A-BF34-6AB5AE1506B2}"/>
              </a:ext>
            </a:extLst>
          </p:cNvPr>
          <p:cNvSpPr>
            <a:spLocks noGrp="1"/>
          </p:cNvSpPr>
          <p:nvPr/>
        </p:nvSpPr>
        <p:spPr>
          <a:xfrm>
            <a:off x="428625" y="56578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正确顺序要求正向可达且反向不可达，例如“先获同意，再获取数据”。</a:t>
            </a:r>
          </a:p>
        </p:txBody>
      </p:sp>
      <p:sp>
        <p:nvSpPr>
          <p:cNvPr id="14" name="">
            <a:extLst>
              <a:ext uri="{FF2B5EF4-FFF2-40B4-BE49-F238E27FC236}">
                <a16:creationId xmlns:a16="http://schemas.microsoft.com/office/drawing/2014/main" id="{44AFCE80-71FD-49CE-80B6-171AFF30BBBC}"/>
              </a:ext>
            </a:extLst>
          </p:cNvPr>
          <p:cNvSpPr>
            <a:spLocks noGrp="1"/>
          </p:cNvSpPr>
          <p:nvPr/>
        </p:nvSpPr>
        <p:spPr>
          <a:xfrm>
            <a:off x="428625" y="603885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解释约定：K 是原文长集合的简写。分母为 0 时没有可检查项，不能据此宣称合规。</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Stage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86F233FA-6C83-45CE-878B-52AF49A7105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① 禁止行为：检查被禁止的 Action 是否出现</a:t>
            </a:r>
          </a:p>
        </p:txBody>
      </p:sp>
      <p:sp>
        <p:nvSpPr>
          <p:cNvPr id="4" name="EQ:prohibited_score">
            <a:extLst>
              <a:ext uri="{FF2B5EF4-FFF2-40B4-BE49-F238E27FC236}">
                <a16:creationId xmlns:a16="http://schemas.microsoft.com/office/drawing/2014/main" id="{465C6BD3-3CDE-4664-AC31-35E023EAC827}"/>
              </a:ext>
            </a:extLst>
          </p:cNvPr>
          <p:cNvSpPr>
            <a:spLocks noGrp="1"/>
          </p:cNvSpPr>
          <p:nvPr/>
        </p:nvSpPr>
        <p:spPr>
          <a:xfrm>
            <a:off x="428625" y="1238250"/>
            <a:ext cx="11239500" cy="61912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700">
                          <a:latin typeface="Cambria Math"/>
                        </a:rPr>
                        <m:t xml:space="preserve">S</m:t>
                      </m:r>
                    </m:e>
                    <m:sub>
                      <m:r>
                        <m:rPr>
                          <m:sty m:val="p"/>
                        </m:rPr>
                        <a:rPr lang="en-US" sz="2700">
                          <a:latin typeface="Cambria Math"/>
                        </a:rPr>
                        <m:t xml:space="preserve">a</m:t>
                      </m:r>
                    </m:sub>
                  </m:sSub>
                  <m:r>
                    <m:rPr>
                      <m:sty m:val="p"/>
                    </m:rPr>
                    <a:rPr lang="en-US" sz="2700">
                      <a:latin typeface="Cambria Math"/>
                    </a:rPr>
                    <m:t xml:space="preserve"> = </m:t>
                  </m:r>
                  <m:sSub>
                    <m:e>
                      <m:r>
                        <m:rPr>
                          <m:sty m:val="p"/>
                        </m:rPr>
                        <a:rPr lang="en-US" sz="2700">
                          <a:latin typeface="Cambria Math"/>
                        </a:rPr>
                        <m:t xml:space="preserve">max</m:t>
                      </m:r>
                    </m:e>
                    <m:sub>
                      <m:r>
                        <m:rPr>
                          <m:sty m:val="p"/>
                        </m:rPr>
                        <a:rPr lang="en-US" sz="2700">
                          <a:latin typeface="Cambria Math"/>
                        </a:rPr>
                        <m:t xml:space="preserve">p∈A(m)</m:t>
                      </m:r>
                    </m:sub>
                  </m:sSub>
                  <m:r>
                    <m:rPr>
                      <m:sty m:val="p"/>
                    </m:rPr>
                    <a:rPr lang="en-US" sz="2700">
                      <a:latin typeface="Cambria Math"/>
                    </a:rPr>
                    <m:t xml:space="preserve">sim(</m:t>
                  </m:r>
                  <m:sSub>
                    <m:e>
                      <m:r>
                        <m:rPr>
                          <m:sty m:val="p"/>
                        </m:rPr>
                        <a:rPr lang="en-US" sz="2700">
                          <a:latin typeface="Cambria Math"/>
                        </a:rPr>
                        <m:t xml:space="preserve">a</m:t>
                      </m:r>
                    </m:e>
                    <m:sub>
                      <m:r>
                        <m:rPr>
                          <m:sty m:val="p"/>
                        </m:rPr>
                        <a:rPr lang="en-US" sz="2700">
                          <a:latin typeface="Cambria Math"/>
                        </a:rPr>
                        <m:t xml:space="preserve">r</m:t>
                      </m:r>
                    </m:sub>
                  </m:sSub>
                  <m:r>
                    <m:rPr>
                      <m:sty m:val="p"/>
                    </m:rPr>
                    <a:rPr lang="en-US" sz="2700">
                      <a:latin typeface="Cambria Math"/>
                    </a:rPr>
                    <m:t xml:space="preserve">, </m:t>
                  </m:r>
                  <m:r>
                    <m:rPr>
                      <m:sty m:val="p"/>
                    </m:rPr>
                    <a:rPr lang="en-US" sz="2700">
                      <a:latin typeface="Cambria Math"/>
                    </a:rPr>
                    <m:t xml:space="preserve">p</m:t>
                  </m:r>
                  <m:r>
                    <m:rPr>
                      <m:sty m:val="p"/>
                    </m:rPr>
                    <a:rPr lang="en-US" sz="2700">
                      <a:latin typeface="Cambria Math"/>
                    </a:rPr>
                    <m:t xml:space="preserve">)</m:t>
                  </m:r>
                </m:oMath>
              </m:oMathPara>
            </a14:m>
            <a:endParaRPr lang="en-US" sz="2700"/>
          </a:p>
        </p:txBody>
      </p:sp>
      <p:sp>
        <p:nvSpPr>
          <p:cNvPr id="5" name="EQ:prohibited_decision">
            <a:extLst>
              <a:ext uri="{FF2B5EF4-FFF2-40B4-BE49-F238E27FC236}">
                <a16:creationId xmlns:a16="http://schemas.microsoft.com/office/drawing/2014/main" id="{296B6D54-AF5F-4978-B6D3-D5A6C0924724}"/>
              </a:ext>
            </a:extLst>
          </p:cNvPr>
          <p:cNvSpPr>
            <a:spLocks noGrp="1"/>
          </p:cNvSpPr>
          <p:nvPr/>
        </p:nvSpPr>
        <p:spPr>
          <a:xfrm>
            <a:off x="428625" y="1895475"/>
            <a:ext cx="11239500" cy="49530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500">
                          <a:latin typeface="Cambria Math"/>
                        </a:rPr>
                        <m:t xml:space="preserve">V</m:t>
                      </m:r>
                    </m:e>
                    <m:sub>
                      <m:r>
                        <m:rPr>
                          <m:sty m:val="p"/>
                        </m:rPr>
                        <a:rPr lang="en-US" sz="2500">
                          <a:latin typeface="Cambria Math"/>
                        </a:rPr>
                        <m:t xml:space="preserve">proh</m:t>
                      </m:r>
                    </m:sub>
                  </m:sSub>
                  <m:r>
                    <m:rPr>
                      <m:sty m:val="p"/>
                    </m:rPr>
                    <a:rPr lang="en-US" sz="2500">
                      <a:latin typeface="Cambria Math"/>
                    </a:rPr>
                    <m:t xml:space="preserve"> = 1  ⇔  </m:t>
                  </m:r>
                  <m:sSub>
                    <m:e>
                      <m:r>
                        <m:rPr>
                          <m:sty m:val="p"/>
                        </m:rPr>
                        <a:rPr lang="en-US" sz="2500">
                          <a:latin typeface="Cambria Math"/>
                        </a:rPr>
                        <m:t xml:space="preserve">μ</m:t>
                      </m:r>
                    </m:e>
                    <m:sub>
                      <m:r>
                        <m:rPr>
                          <m:sty m:val="p"/>
                        </m:rPr>
                        <a:rPr lang="en-US" sz="2500">
                          <a:latin typeface="Cambria Math"/>
                        </a:rPr>
                        <m:t xml:space="preserve">r</m:t>
                      </m:r>
                    </m:sub>
                  </m:sSub>
                  <m:r>
                    <m:rPr>
                      <m:sty m:val="p"/>
                    </m:rPr>
                    <a:rPr lang="en-US" sz="2500">
                      <a:latin typeface="Cambria Math"/>
                    </a:rPr>
                    <m:t xml:space="preserve"> = prohibition  ∧  </m:t>
                  </m:r>
                  <m:sSub>
                    <m:e>
                      <m:r>
                        <m:rPr>
                          <m:sty m:val="p"/>
                        </m:rPr>
                        <a:rPr lang="en-US" sz="2500">
                          <a:latin typeface="Cambria Math"/>
                        </a:rPr>
                        <m:t xml:space="preserve">S</m:t>
                      </m:r>
                    </m:e>
                    <m:sub>
                      <m:r>
                        <m:rPr>
                          <m:sty m:val="p"/>
                        </m:rPr>
                        <a:rPr lang="en-US" sz="2500">
                          <a:latin typeface="Cambria Math"/>
                        </a:rPr>
                        <m:t xml:space="preserve">a</m:t>
                      </m:r>
                    </m:sub>
                  </m:sSub>
                  <m:r>
                    <m:rPr>
                      <m:sty m:val="p"/>
                    </m:rPr>
                    <a:rPr lang="en-US" sz="2500">
                      <a:latin typeface="Cambria Math"/>
                    </a:rPr>
                    <m:t xml:space="preserve"> ≥ </m:t>
                  </m:r>
                  <m:sSub>
                    <m:e>
                      <m:r>
                        <m:rPr>
                          <m:sty m:val="p"/>
                        </m:rPr>
                        <a:rPr lang="en-US" sz="2500">
                          <a:latin typeface="Cambria Math"/>
                        </a:rPr>
                        <m:t xml:space="preserve">γ</m:t>
                      </m:r>
                    </m:e>
                    <m:sub>
                      <m:r>
                        <m:rPr>
                          <m:sty m:val="p"/>
                        </m:rPr>
                        <a:rPr lang="en-US" sz="2500">
                          <a:latin typeface="Cambria Math"/>
                        </a:rPr>
                        <m:t xml:space="preserve">ext</m:t>
                      </m:r>
                    </m:sub>
                  </m:sSub>
                </m:oMath>
              </m:oMathPara>
            </a14:m>
            <a:endParaRPr lang="en-US" sz="2500"/>
          </a:p>
        </p:txBody>
      </p:sp>
      <p:sp>
        <p:nvSpPr>
          <p:cNvPr id="6" name="">
            <a:extLst>
              <a:ext uri="{FF2B5EF4-FFF2-40B4-BE49-F238E27FC236}">
                <a16:creationId xmlns:a16="http://schemas.microsoft.com/office/drawing/2014/main" id="{EC595074-BBD4-4FC9-B957-C5334E8E8EB9}"/>
              </a:ext>
            </a:extLst>
          </p:cNvPr>
          <p:cNvSpPr>
            <a:spLocks noGrp="1"/>
          </p:cNvSpPr>
          <p:nvPr/>
        </p:nvSpPr>
        <p:spPr>
          <a:xfrm>
            <a:off x="428625" y="24765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A(m)：流程中的候选活动／事件。a</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：法规 Action。μ</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：法规 Modality。</a:t>
            </a:r>
          </a:p>
        </p:txBody>
      </p:sp>
      <p:sp>
        <p:nvSpPr>
          <p:cNvPr id="7" name="">
            <a:extLst>
              <a:ext uri="{FF2B5EF4-FFF2-40B4-BE49-F238E27FC236}">
                <a16:creationId xmlns:a16="http://schemas.microsoft.com/office/drawing/2014/main" id="{9DE036DC-C144-4BBC-814F-34AAF759B4CD}"/>
              </a:ext>
            </a:extLst>
          </p:cNvPr>
          <p:cNvSpPr>
            <a:spLocks noGrp="1"/>
          </p:cNvSpPr>
          <p:nvPr/>
        </p:nvSpPr>
        <p:spPr>
          <a:xfrm>
            <a:off x="428625" y="28289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是最佳动作相似度；当规则禁止该动作且 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 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时，判为禁止行为出现。</a:t>
            </a:r>
          </a:p>
        </p:txBody>
      </p:sp>
      <p:sp>
        <p:nvSpPr>
          <p:cNvPr id="8" name="">
            <a:extLst>
              <a:ext uri="{FF2B5EF4-FFF2-40B4-BE49-F238E27FC236}">
                <a16:creationId xmlns:a16="http://schemas.microsoft.com/office/drawing/2014/main" id="{694EB271-A330-430E-B98B-A2F61C7A9D0F}"/>
              </a:ext>
            </a:extLst>
          </p:cNvPr>
          <p:cNvSpPr>
            <a:spLocks noGrp="1"/>
          </p:cNvSpPr>
          <p:nvPr/>
        </p:nvSpPr>
        <p:spPr>
          <a:xfrm>
            <a:off x="361950" y="33528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② 条件、约束、例外：检查对应语义证据是否落实</a:t>
            </a:r>
          </a:p>
        </p:txBody>
      </p:sp>
      <p:sp>
        <p:nvSpPr>
          <p:cNvPr id="9" name="EQ:evidence_score">
            <a:extLst>
              <a:ext uri="{FF2B5EF4-FFF2-40B4-BE49-F238E27FC236}">
                <a16:creationId xmlns:a16="http://schemas.microsoft.com/office/drawing/2014/main" id="{1C9463EE-48A4-4152-A164-D384B213DE52}"/>
              </a:ext>
            </a:extLst>
          </p:cNvPr>
          <p:cNvSpPr>
            <a:spLocks noGrp="1"/>
          </p:cNvSpPr>
          <p:nvPr/>
        </p:nvSpPr>
        <p:spPr>
          <a:xfrm>
            <a:off x="428625" y="3743325"/>
            <a:ext cx="11239500" cy="61912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700">
                          <a:latin typeface="Cambria Math"/>
                        </a:rPr>
                        <m:t xml:space="preserve">S</m:t>
                      </m:r>
                    </m:e>
                    <m:sub>
                      <m:r>
                        <m:rPr>
                          <m:sty m:val="p"/>
                        </m:rPr>
                        <a:rPr lang="en-US" sz="2700">
                          <a:latin typeface="Cambria Math"/>
                        </a:rPr>
                        <m:t xml:space="preserve">f</m:t>
                      </m:r>
                    </m:sub>
                  </m:sSub>
                  <m:r>
                    <m:rPr>
                      <m:sty m:val="p"/>
                    </m:rPr>
                    <a:rPr lang="en-US" sz="2700">
                      <a:latin typeface="Cambria Math"/>
                    </a:rPr>
                    <m:t xml:space="preserve"> = 1 − </m:t>
                  </m:r>
                  <m:sSub>
                    <m:e>
                      <m:r>
                        <m:rPr>
                          <m:sty m:val="p"/>
                        </m:rPr>
                        <a:rPr lang="en-US" sz="2700">
                          <a:latin typeface="Cambria Math"/>
                        </a:rPr>
                        <m:t xml:space="preserve">max</m:t>
                      </m:r>
                    </m:e>
                    <m:sub>
                      <m:r>
                        <m:rPr>
                          <m:sty m:val="p"/>
                        </m:rPr>
                        <a:rPr lang="en-US" sz="2700">
                          <a:latin typeface="Cambria Math"/>
                        </a:rPr>
                        <m:t xml:space="preserve">c∈</m:t>
                      </m:r>
                      <m:sSub>
                        <m:e>
                          <m:r>
                            <m:rPr>
                              <m:sty m:val="p"/>
                            </m:rPr>
                            <a:rPr lang="en-US" sz="2700">
                              <a:latin typeface="Cambria Math"/>
                            </a:rPr>
                            <m:t xml:space="preserve">C</m:t>
                          </m:r>
                        </m:e>
                        <m:sub>
                          <m:r>
                            <m:rPr>
                              <m:sty m:val="p"/>
                            </m:rPr>
                            <a:rPr lang="en-US" sz="2700">
                              <a:latin typeface="Cambria Math"/>
                            </a:rPr>
                            <m:t xml:space="preserve">f</m:t>
                          </m:r>
                        </m:sub>
                      </m:sSub>
                      <m:r>
                        <m:rPr>
                          <m:sty m:val="p"/>
                        </m:rPr>
                        <a:rPr lang="en-US" sz="2700">
                          <a:latin typeface="Cambria Math"/>
                        </a:rPr>
                        <m:t xml:space="preserve">(m)</m:t>
                      </m:r>
                    </m:sub>
                  </m:sSub>
                  <m:r>
                    <m:rPr>
                      <m:sty m:val="p"/>
                    </m:rPr>
                    <a:rPr lang="en-US" sz="2700">
                      <a:latin typeface="Cambria Math"/>
                    </a:rPr>
                    <m:t xml:space="preserve">sim(</m:t>
                  </m:r>
                  <m:sSub>
                    <m:e>
                      <m:r>
                        <m:rPr>
                          <m:sty m:val="p"/>
                        </m:rPr>
                        <a:rPr lang="en-US" sz="2700">
                          <a:latin typeface="Cambria Math"/>
                        </a:rPr>
                        <m:t xml:space="preserve">f</m:t>
                      </m:r>
                    </m:e>
                    <m:sub>
                      <m:r>
                        <m:rPr>
                          <m:sty m:val="p"/>
                        </m:rPr>
                        <a:rPr lang="en-US" sz="2700">
                          <a:latin typeface="Cambria Math"/>
                        </a:rPr>
                        <m:t xml:space="preserve">r</m:t>
                      </m:r>
                    </m:sub>
                  </m:sSub>
                  <m:r>
                    <m:rPr>
                      <m:sty m:val="p"/>
                    </m:rPr>
                    <a:rPr lang="en-US" sz="2700">
                      <a:latin typeface="Cambria Math"/>
                    </a:rPr>
                    <m:t xml:space="preserve">, </m:t>
                  </m:r>
                  <m:r>
                    <m:rPr>
                      <m:sty m:val="p"/>
                    </m:rPr>
                    <a:rPr lang="en-US" sz="2700">
                      <a:latin typeface="Cambria Math"/>
                    </a:rPr>
                    <m:t xml:space="preserve">c</m:t>
                  </m:r>
                  <m:r>
                    <m:rPr>
                      <m:sty m:val="p"/>
                    </m:rPr>
                    <a:rPr lang="en-US" sz="2700">
                      <a:latin typeface="Cambria Math"/>
                    </a:rPr>
                    <m:t xml:space="preserve">)</m:t>
                  </m:r>
                </m:oMath>
              </m:oMathPara>
            </a14:m>
            <a:endParaRPr lang="en-US" sz="2700"/>
          </a:p>
        </p:txBody>
      </p:sp>
      <p:sp>
        <p:nvSpPr>
          <p:cNvPr id="10" name="EQ:evidence_gate">
            <a:extLst>
              <a:ext uri="{FF2B5EF4-FFF2-40B4-BE49-F238E27FC236}">
                <a16:creationId xmlns:a16="http://schemas.microsoft.com/office/drawing/2014/main" id="{2965F344-7A47-4663-8E6B-3F046CD5A33A}"/>
              </a:ext>
            </a:extLst>
          </p:cNvPr>
          <p:cNvSpPr>
            <a:spLocks noGrp="1"/>
          </p:cNvSpPr>
          <p:nvPr/>
        </p:nvSpPr>
        <p:spPr>
          <a:xfrm>
            <a:off x="428625" y="4429125"/>
            <a:ext cx="11239500" cy="485775"/>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200">
                          <a:latin typeface="Cambria Math"/>
                        </a:rPr>
                        <m:t xml:space="preserve">V</m:t>
                      </m:r>
                    </m:e>
                    <m:sub>
                      <m:r>
                        <m:rPr>
                          <m:sty m:val="p"/>
                        </m:rPr>
                        <a:rPr lang="en-US" sz="2200">
                          <a:latin typeface="Cambria Math"/>
                        </a:rPr>
                        <m:t xml:space="preserve">f</m:t>
                      </m:r>
                    </m:sub>
                  </m:sSub>
                  <m:r>
                    <m:rPr>
                      <m:sty m:val="p"/>
                    </m:rPr>
                    <a:rPr lang="en-US" sz="2200">
                      <a:latin typeface="Cambria Math"/>
                    </a:rPr>
                    <m:t xml:space="preserve"> = 1  ⇔  </m:t>
                  </m:r>
                  <m:sSub>
                    <m:e>
                      <m:r>
                        <m:rPr>
                          <m:sty m:val="p"/>
                        </m:rPr>
                        <a:rPr lang="en-US" sz="2200">
                          <a:latin typeface="Cambria Math"/>
                        </a:rPr>
                        <m:t xml:space="preserve">S</m:t>
                      </m:r>
                    </m:e>
                    <m:sub>
                      <m:r>
                        <m:rPr>
                          <m:sty m:val="p"/>
                        </m:rPr>
                        <a:rPr lang="en-US" sz="2200">
                          <a:latin typeface="Cambria Math"/>
                        </a:rPr>
                        <m:t xml:space="preserve">f</m:t>
                      </m:r>
                    </m:sub>
                  </m:sSub>
                  <m:r>
                    <m:rPr>
                      <m:sty m:val="p"/>
                    </m:rPr>
                    <a:rPr lang="en-US" sz="2200">
                      <a:latin typeface="Cambria Math"/>
                    </a:rPr>
                    <m:t xml:space="preserve"> &gt; </m:t>
                  </m:r>
                  <m:sSub>
                    <m:e>
                      <m:r>
                        <m:rPr>
                          <m:sty m:val="p"/>
                        </m:rPr>
                        <a:rPr lang="en-US" sz="2200">
                          <a:latin typeface="Cambria Math"/>
                        </a:rPr>
                        <m:t xml:space="preserve">γ</m:t>
                      </m:r>
                    </m:e>
                    <m:sub>
                      <m:r>
                        <m:rPr>
                          <m:sty m:val="p"/>
                        </m:rPr>
                        <a:rPr lang="en-US" sz="2200">
                          <a:latin typeface="Cambria Math"/>
                        </a:rPr>
                        <m:t xml:space="preserve">ext</m:t>
                      </m:r>
                    </m:sub>
                  </m:sSub>
                  <m:r>
                    <m:rPr>
                      <m:sty m:val="p"/>
                    </m:rPr>
                    <a:rPr lang="en-US" sz="2200">
                      <a:latin typeface="Cambria Math"/>
                    </a:rPr>
                    <m:t xml:space="preserve">     (</m:t>
                  </m:r>
                  <m:sSub>
                    <m:e>
                      <m:r>
                        <m:rPr>
                          <m:sty m:val="p"/>
                        </m:rPr>
                        <a:rPr lang="en-US" sz="2200">
                          <a:latin typeface="Cambria Math"/>
                        </a:rPr>
                        <m:t xml:space="preserve">f</m:t>
                      </m:r>
                    </m:e>
                    <m:sub>
                      <m:r>
                        <m:rPr>
                          <m:sty m:val="p"/>
                        </m:rPr>
                        <a:rPr lang="en-US" sz="2200">
                          <a:latin typeface="Cambria Math"/>
                        </a:rPr>
                        <m:t xml:space="preserve">r</m:t>
                      </m:r>
                    </m:sub>
                  </m:sSub>
                  <m:r>
                    <m:rPr>
                      <m:sty m:val="p"/>
                    </m:rPr>
                    <a:rPr lang="en-US" sz="2200">
                      <a:latin typeface="Cambria Math"/>
                    </a:rPr>
                    <m:t xml:space="preserve"> ≠ ∅,  </m:t>
                  </m:r>
                  <m:sSub>
                    <m:e>
                      <m:r>
                        <m:rPr>
                          <m:sty m:val="p"/>
                        </m:rPr>
                        <a:rPr lang="en-US" sz="2200">
                          <a:latin typeface="Cambria Math"/>
                        </a:rPr>
                        <m:t xml:space="preserve">S</m:t>
                      </m:r>
                    </m:e>
                    <m:sub>
                      <m:r>
                        <m:rPr>
                          <m:sty m:val="p"/>
                        </m:rPr>
                        <a:rPr lang="en-US" sz="2200">
                          <a:latin typeface="Cambria Math"/>
                        </a:rPr>
                        <m:t xml:space="preserve">a</m:t>
                      </m:r>
                    </m:sub>
                  </m:sSub>
                  <m:r>
                    <m:rPr>
                      <m:sty m:val="p"/>
                    </m:rPr>
                    <a:rPr lang="en-US" sz="2200">
                      <a:latin typeface="Cambria Math"/>
                    </a:rPr>
                    <m:t xml:space="preserve"> ≥ </m:t>
                  </m:r>
                  <m:sSub>
                    <m:e>
                      <m:r>
                        <m:rPr>
                          <m:sty m:val="p"/>
                        </m:rPr>
                        <a:rPr lang="en-US" sz="2200">
                          <a:latin typeface="Cambria Math"/>
                        </a:rPr>
                        <m:t xml:space="preserve">γ</m:t>
                      </m:r>
                    </m:e>
                    <m:sub>
                      <m:r>
                        <m:rPr>
                          <m:sty m:val="p"/>
                        </m:rPr>
                        <a:rPr lang="en-US" sz="2200">
                          <a:latin typeface="Cambria Math"/>
                        </a:rPr>
                        <m:t xml:space="preserve">m</m:t>
                      </m:r>
                    </m:sub>
                  </m:sSub>
                  <m:r>
                    <m:rPr>
                      <m:sty m:val="p"/>
                    </m:rPr>
                    <a:rPr lang="en-US" sz="2200">
                      <a:latin typeface="Cambria Math"/>
                    </a:rPr>
                    <m:t xml:space="preserve">,  </m:t>
                  </m:r>
                  <m:sSub>
                    <m:e>
                      <m:r>
                        <m:rPr>
                          <m:sty m:val="p"/>
                        </m:rPr>
                        <a:rPr lang="en-US" sz="2200">
                          <a:latin typeface="Cambria Math"/>
                        </a:rPr>
                        <m:t xml:space="preserve">C</m:t>
                      </m:r>
                    </m:e>
                    <m:sub>
                      <m:r>
                        <m:rPr>
                          <m:sty m:val="p"/>
                        </m:rPr>
                        <a:rPr lang="en-US" sz="2200">
                          <a:latin typeface="Cambria Math"/>
                        </a:rPr>
                        <m:t xml:space="preserve">f</m:t>
                      </m:r>
                    </m:sub>
                  </m:sSub>
                  <m:r>
                    <m:rPr>
                      <m:sty m:val="p"/>
                    </m:rPr>
                    <a:rPr lang="en-US" sz="2200">
                      <a:latin typeface="Cambria Math"/>
                    </a:rPr>
                    <m:t xml:space="preserve">(m)</m:t>
                  </m:r>
                  <m:r>
                    <m:rPr>
                      <m:sty m:val="p"/>
                    </m:rPr>
                    <a:rPr lang="en-US" sz="2200">
                      <a:latin typeface="Cambria Math"/>
                    </a:rPr>
                    <m:t xml:space="preserve"> ≠ ∅)</m:t>
                  </m:r>
                </m:oMath>
              </m:oMathPara>
            </a14:m>
            <a:endParaRPr lang="en-US" sz="2200"/>
          </a:p>
        </p:txBody>
      </p:sp>
      <p:sp>
        <p:nvSpPr>
          <p:cNvPr id="11" name="">
            <a:extLst>
              <a:ext uri="{FF2B5EF4-FFF2-40B4-BE49-F238E27FC236}">
                <a16:creationId xmlns:a16="http://schemas.microsoft.com/office/drawing/2014/main" id="{AFEB681A-901B-4CA5-924B-7AC59B5165B9}"/>
              </a:ext>
            </a:extLst>
          </p:cNvPr>
          <p:cNvSpPr>
            <a:spLocks noGrp="1"/>
          </p:cNvSpPr>
          <p:nvPr/>
        </p:nvSpPr>
        <p:spPr>
          <a:xfrm>
            <a:off x="428625" y="498157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前提：字段 f</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 非空，法规 Action 可映射（S</a:t>
            </a:r>
            <a:r>
              <a:rPr sz="1188" b="0" baseline="-22000">
                <a:solidFill>
                  <a:srgbClr val="111111"/>
                </a:solidFill>
                <a:latin typeface="微软雅黑"/>
                <a:ea typeface="微软雅黑"/>
                <a:cs typeface="微软雅黑"/>
              </a:rPr>
              <a:t>a</a:t>
            </a:r>
            <a:r>
              <a:rPr sz="1650" b="0">
                <a:solidFill>
                  <a:srgbClr val="111111"/>
                </a:solidFill>
                <a:latin typeface="微软雅黑"/>
                <a:ea typeface="微软雅黑"/>
                <a:cs typeface="微软雅黑"/>
              </a:rPr>
              <a:t> ≥ γ</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），候选集合 C</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(m) 非空。</a:t>
            </a:r>
          </a:p>
        </p:txBody>
      </p:sp>
      <p:sp>
        <p:nvSpPr>
          <p:cNvPr id="12" name="">
            <a:extLst>
              <a:ext uri="{FF2B5EF4-FFF2-40B4-BE49-F238E27FC236}">
                <a16:creationId xmlns:a16="http://schemas.microsoft.com/office/drawing/2014/main" id="{F858FF59-C64D-46DF-AFC3-0F1192C2900C}"/>
              </a:ext>
            </a:extLst>
          </p:cNvPr>
          <p:cNvSpPr>
            <a:spLocks noGrp="1"/>
          </p:cNvSpPr>
          <p:nvPr/>
        </p:nvSpPr>
        <p:spPr>
          <a:xfrm>
            <a:off x="428625" y="53340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S</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 越大，最相似证据与法规要素的差异越大；S</a:t>
            </a:r>
            <a:r>
              <a:rPr sz="1188" b="0" baseline="-22000">
                <a:solidFill>
                  <a:srgbClr val="111111"/>
                </a:solidFill>
                <a:latin typeface="微软雅黑"/>
                <a:ea typeface="微软雅黑"/>
                <a:cs typeface="微软雅黑"/>
              </a:rPr>
              <a:t>f</a:t>
            </a:r>
            <a:r>
              <a:rPr sz="1650" b="0">
                <a:solidFill>
                  <a:srgbClr val="111111"/>
                </a:solidFill>
                <a:latin typeface="微软雅黑"/>
                <a:ea typeface="微软雅黑"/>
                <a:cs typeface="微软雅黑"/>
              </a:rPr>
              <a:t> &gt; 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时判该类违规。</a:t>
            </a:r>
          </a:p>
        </p:txBody>
      </p:sp>
      <p:sp>
        <p:nvSpPr>
          <p:cNvPr id="13" name="">
            <a:extLst>
              <a:ext uri="{FF2B5EF4-FFF2-40B4-BE49-F238E27FC236}">
                <a16:creationId xmlns:a16="http://schemas.microsoft.com/office/drawing/2014/main" id="{42869BA2-9205-496D-BEFE-201AB722AFBB}"/>
              </a:ext>
            </a:extLst>
          </p:cNvPr>
          <p:cNvSpPr>
            <a:spLocks noGrp="1"/>
          </p:cNvSpPr>
          <p:nvPr/>
        </p:nvSpPr>
        <p:spPr>
          <a:xfrm>
            <a:off x="428625" y="57626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γ</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：各方法冻结的动作匹配阈值。γ</a:t>
            </a:r>
            <a:r>
              <a:rPr sz="1188" b="0" baseline="-22000">
                <a:solidFill>
                  <a:srgbClr val="111111"/>
                </a:solidFill>
                <a:latin typeface="微软雅黑"/>
                <a:ea typeface="微软雅黑"/>
                <a:cs typeface="微软雅黑"/>
              </a:rPr>
              <a:t>ext</a:t>
            </a:r>
            <a:r>
              <a:rPr sz="1650" b="0">
                <a:solidFill>
                  <a:srgbClr val="111111"/>
                </a:solidFill>
                <a:latin typeface="微软雅黑"/>
                <a:ea typeface="微软雅黑"/>
                <a:cs typeface="微软雅黑"/>
              </a:rPr>
              <a:t> = 0.5：当前扩展统一判定阈值。</a:t>
            </a:r>
          </a:p>
        </p:txBody>
      </p:sp>
      <p:sp>
        <p:nvSpPr>
          <p:cNvPr id="14" name="">
            <a:extLst>
              <a:ext uri="{FF2B5EF4-FFF2-40B4-BE49-F238E27FC236}">
                <a16:creationId xmlns:a16="http://schemas.microsoft.com/office/drawing/2014/main" id="{DC57542B-7F68-46B7-8264-A401AA2F19CB}"/>
              </a:ext>
            </a:extLst>
          </p:cNvPr>
          <p:cNvSpPr>
            <a:spLocks noGrp="1"/>
          </p:cNvSpPr>
          <p:nvPr/>
        </p:nvSpPr>
        <p:spPr>
          <a:xfrm>
            <a:off x="428625" y="6115050"/>
            <a:ext cx="11239500" cy="381000"/>
          </a:xfrm>
          <a:prstGeom prst="rect">
            <a:avLst/>
          </a:prstGeom>
          <a:noFill/>
          <a:ln w="0">
            <a:noFill/>
          </a:ln>
        </p:spPr>
        <p:txBody>
          <a:bodyPr anchor="ctr">
            <a:noAutofit/>
          </a:bodyPr>
          <a:lstStyle/>
          <a:p>
            <a:pPr>
              <a:defRPr sz="1350" b="0">
                <a:solidFill>
                  <a:srgbClr val="111111"/>
                </a:solidFill>
                <a:latin typeface="微软雅黑"/>
                <a:ea typeface="微软雅黑"/>
                <a:cs typeface="微软雅黑"/>
              </a:defRPr>
            </a:pPr>
            <a:r>
              <a:rPr sz="1350" b="0">
                <a:solidFill>
                  <a:srgbClr val="111111"/>
                </a:solidFill>
                <a:latin typeface="微软雅黑"/>
                <a:ea typeface="微软雅黑"/>
                <a:cs typeface="微软雅黑"/>
              </a:rPr>
              <a:t>f ∈ {condition, constraint, exception}。前提不满足时记为 unobservable，分数留空。</a:t>
            </a: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2"/>
          <p:cNvSpPr>
            <a:spLocks noGrp="1"/>
          </p:cNvSpPr>
          <p:nvPr>
            <p:ph type="title"/>
          </p:nvPr>
        </p:nvSpPr>
        <p:spPr>
          <a:xfrm>
            <a:off x="0" y="-76835"/>
            <a:ext cx="9882505" cy="768985"/>
          </a:xfrm>
        </p:spPr>
        <p:txBody>
          <a:bodyPr>
            <a:normAutofit/>
          </a:bodyPr>
          <a:p>
            <a:r>
              <a:rPr lang="zh-CN" altLang="en-US" sz="3110"/>
              <a:t>方法-</a:t>
            </a:r>
            <a:r>
              <a:rPr lang="en-US" altLang="zh-CN" sz="3110"/>
              <a:t>Stage 3.2</a:t>
            </a:r>
            <a:r>
              <a:rPr lang="zh-CN" altLang="en-US" sz="3110"/>
              <a:t>：</a:t>
            </a:r>
            <a:r>
              <a:rPr lang="en-US" altLang="zh-CN" sz="3110"/>
              <a:t>Extended Violation Detection</a:t>
            </a:r>
            <a:endParaRPr lang="en-US" altLang="zh-CN" sz="3110"/>
          </a:p>
        </p:txBody>
      </p:sp>
      <p:sp>
        <p:nvSpPr>
          <p:cNvPr id="3" name="">
            <a:extLst>
              <a:ext uri="{FF2B5EF4-FFF2-40B4-BE49-F238E27FC236}">
                <a16:creationId xmlns:a16="http://schemas.microsoft.com/office/drawing/2014/main" id="{4CB8A2E3-7985-4879-8B45-1F744600A770}"/>
              </a:ext>
            </a:extLst>
          </p:cNvPr>
          <p:cNvSpPr>
            <a:spLocks noGrp="1"/>
          </p:cNvSpPr>
          <p:nvPr/>
        </p:nvSpPr>
        <p:spPr>
          <a:xfrm>
            <a:off x="361950" y="838200"/>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BPMN 证据与约束特例</a:t>
            </a:r>
          </a:p>
        </p:txBody>
      </p:sp>
      <p:graphicFrame>
        <p:nvGraphicFramePr>
          <p:cNvPr id="4" name=""/>
          <p:cNvGraphicFramePr/>
          <p:nvPr/>
        </p:nvGraphicFramePr>
        <p:xfrm>
          <a:off x="361950" y="1362075"/>
          <a:ext cx="11468100" cy="2286000"/>
        </p:xfrm>
        <a:graphic>
          <a:graphicData uri="http://schemas.openxmlformats.org/drawingml/2006/table">
            <a:tbl>
              <a:tblPr/>
              <a:tblGrid>
                <a:gridCol w="2095500"/>
                <a:gridCol w="9372600"/>
              </a:tblGrid>
              <a:tr h="419100">
                <a:tc>
                  <a:txBody>
                    <a:bodyPr>
                      <a:noAutofit/>
                    </a:bodyPr>
                    <a:lstStyle/>
                    <a:p>
                      <a:r>
                        <a:rPr sz="1650" b="1">
                          <a:solidFill>
                            <a:srgbClr val="064689"/>
                          </a:solidFill>
                          <a:latin typeface="微软雅黑"/>
                          <a:ea typeface="微软雅黑"/>
                          <a:cs typeface="微软雅黑"/>
                        </a:rPr>
                        <a:t>证据集合</a:t>
                      </a:r>
                    </a:p>
                  </a:txBody>
                  <a:tcPr marL="91440" marR="91440" marT="45720" marB="45720" anchor="ctr">
                    <a:solidFill>
                      <a:srgbClr val="EAF1F8"/>
                    </a:solidFill>
                  </a:tcPr>
                </a:tc>
                <a:tc>
                  <a:txBody>
                    <a:bodyPr>
                      <a:noAutofit/>
                    </a:bodyPr>
                    <a:lstStyle/>
                    <a:p>
                      <a:r>
                        <a:rPr sz="1650" b="1">
                          <a:solidFill>
                            <a:srgbClr val="064689"/>
                          </a:solidFill>
                          <a:latin typeface="微软雅黑"/>
                          <a:ea typeface="微软雅黑"/>
                          <a:cs typeface="微软雅黑"/>
                        </a:rPr>
                        <a:t>当前候选来源</a:t>
                      </a:r>
                    </a:p>
                  </a:txBody>
                  <a:tcPr marL="91440" marR="91440" marT="45720" marB="45720" anchor="ctr">
                    <a:solidFill>
                      <a:srgbClr val="EAF1F8"/>
                    </a:solidFill>
                  </a:tcPr>
                </a:tc>
              </a:tr>
              <a:tr h="619125">
                <a:tc>
                  <a:txBody>
                    <a:bodyPr>
                      <a:noAutofit/>
                    </a:bodyPr>
                    <a:lstStyle/>
                    <a:p>
                      <a:r>
                        <a:rPr sz="1650" b="0">
                          <a:solidFill>
                            <a:srgbClr val="111111"/>
                          </a:solidFill>
                          <a:latin typeface="微软雅黑"/>
                          <a:ea typeface="微软雅黑"/>
                          <a:cs typeface="微软雅黑"/>
                        </a:rPr>
                        <a:t>Condition</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Sequence Flow 标签、conditionExpression、Gateway 标签、映射动作附近控制节点</a:t>
                      </a:r>
                    </a:p>
                  </a:txBody>
                  <a:tcPr marL="91440" marR="91440" marT="45720" marB="45720" anchor="ctr">
                    <a:solidFill>
                      <a:srgbClr val="FFFFFF"/>
                    </a:solidFill>
                  </a:tcPr>
                </a:tc>
              </a:tr>
              <a:tr h="619125">
                <a:tc>
                  <a:txBody>
                    <a:bodyPr>
                      <a:noAutofit/>
                    </a:bodyPr>
                    <a:lstStyle/>
                    <a:p>
                      <a:r>
                        <a:rPr sz="1650" b="0">
                          <a:solidFill>
                            <a:srgbClr val="111111"/>
                          </a:solidFill>
                          <a:latin typeface="微软雅黑"/>
                          <a:ea typeface="微软雅黑"/>
                          <a:cs typeface="微软雅黑"/>
                        </a:rPr>
                        <a:t>Constraint</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Activity 标签、Data Object／Store、Text Annotation、Timer／Event、Flow 标签及附近节点</a:t>
                      </a:r>
                    </a:p>
                  </a:txBody>
                  <a:tcPr marL="91440" marR="91440" marT="45720" marB="45720" anchor="ctr">
                    <a:solidFill>
                      <a:srgbClr val="FFFFFF"/>
                    </a:solidFill>
                  </a:tcPr>
                </a:tc>
              </a:tr>
              <a:tr h="619125">
                <a:tc>
                  <a:txBody>
                    <a:bodyPr>
                      <a:noAutofit/>
                    </a:bodyPr>
                    <a:lstStyle/>
                    <a:p>
                      <a:r>
                        <a:rPr sz="1650" b="0">
                          <a:solidFill>
                            <a:srgbClr val="111111"/>
                          </a:solidFill>
                          <a:latin typeface="微软雅黑"/>
                          <a:ea typeface="微软雅黑"/>
                          <a:cs typeface="微软雅黑"/>
                        </a:rPr>
                        <a:t>Exception</a:t>
                      </a:r>
                    </a:p>
                  </a:txBody>
                  <a:tcPr marL="91440" marR="91440" marT="45720" marB="45720" anchor="ctr">
                    <a:solidFill>
                      <a:srgbClr val="FFFFFF"/>
                    </a:solidFill>
                  </a:tcPr>
                </a:tc>
                <a:tc>
                  <a:txBody>
                    <a:bodyPr>
                      <a:noAutofit/>
                    </a:bodyPr>
                    <a:lstStyle/>
                    <a:p>
                      <a:r>
                        <a:rPr sz="1650" b="0">
                          <a:solidFill>
                            <a:srgbClr val="111111"/>
                          </a:solidFill>
                          <a:latin typeface="微软雅黑"/>
                          <a:ea typeface="微软雅黑"/>
                          <a:cs typeface="微软雅黑"/>
                        </a:rPr>
                        <a:t>Boundary／Error／Escalation Event、替代分支、Handler Activity、异常提示词节点</a:t>
                      </a:r>
                    </a:p>
                  </a:txBody>
                  <a:tcPr marL="91440" marR="91440" marT="45720" marB="45720" anchor="ctr">
                    <a:solidFill>
                      <a:srgbClr val="FFFFFF"/>
                    </a:solidFill>
                  </a:tcPr>
                </a:tc>
              </a:tr>
            </a:tbl>
          </a:graphicData>
        </a:graphic>
      </p:graphicFrame>
      <p:sp>
        <p:nvSpPr>
          <p:cNvPr id="5" name="">
            <a:extLst>
              <a:ext uri="{FF2B5EF4-FFF2-40B4-BE49-F238E27FC236}">
                <a16:creationId xmlns:a16="http://schemas.microsoft.com/office/drawing/2014/main" id="{7A68A1D3-38F5-4A99-98E4-8B9B156CEC1A}"/>
              </a:ext>
            </a:extLst>
          </p:cNvPr>
          <p:cNvSpPr>
            <a:spLocks noGrp="1"/>
          </p:cNvSpPr>
          <p:nvPr/>
        </p:nvSpPr>
        <p:spPr>
          <a:xfrm>
            <a:off x="361950" y="3838575"/>
            <a:ext cx="11430000" cy="361950"/>
          </a:xfrm>
          <a:prstGeom prst="rect">
            <a:avLst/>
          </a:prstGeom>
          <a:noFill/>
          <a:ln w="0">
            <a:noFill/>
          </a:ln>
        </p:spPr>
        <p:txBody>
          <a:bodyPr anchor="ctr">
            <a:noAutofit/>
          </a:bodyPr>
          <a:lstStyle/>
          <a:p>
            <a:pPr>
              <a:defRPr sz="2025" b="1">
                <a:solidFill>
                  <a:srgbClr val="064689"/>
                </a:solidFill>
                <a:latin typeface="微软雅黑"/>
                <a:ea typeface="微软雅黑"/>
                <a:cs typeface="微软雅黑"/>
              </a:defRPr>
            </a:pPr>
            <a:r>
              <a:rPr sz="2025" b="1">
                <a:solidFill>
                  <a:srgbClr val="064689"/>
                </a:solidFill>
                <a:latin typeface="微软雅黑"/>
                <a:ea typeface="微软雅黑"/>
                <a:cs typeface="微软雅黑"/>
              </a:rPr>
              <a:t>明确时间上界冲突  Constraint special case</a:t>
            </a:r>
          </a:p>
        </p:txBody>
      </p:sp>
      <p:sp>
        <p:nvSpPr>
          <p:cNvPr id="6" name="EQ:time">
            <a:extLst>
              <a:ext uri="{FF2B5EF4-FFF2-40B4-BE49-F238E27FC236}">
                <a16:creationId xmlns:a16="http://schemas.microsoft.com/office/drawing/2014/main" id="{3174B892-28ED-47E9-98A0-9F4CE138C247}"/>
              </a:ext>
            </a:extLst>
          </p:cNvPr>
          <p:cNvSpPr>
            <a:spLocks noGrp="1"/>
          </p:cNvSpPr>
          <p:nvPr/>
        </p:nvSpPr>
        <p:spPr>
          <a:xfrm>
            <a:off x="428625" y="4257675"/>
            <a:ext cx="11239500" cy="514350"/>
          </a:xfrm>
          <a:prstGeom prst="rect">
            <a:avLst/>
          </a:prstGeom>
          <a:noFill/>
          <a:ln w="0">
            <a:noFill/>
          </a:ln>
        </p:spPr>
        <p:txBody>
          <a:bodyPr anchor="ctr" wrap="none" lIns="0" rIns="0" tIns="0" bIns="0">
            <a:noAutofit/>
          </a:bodyPr>
          <a:lstStyle/>
          <a:p>
            <a:pPr algn="l"/>
            <a14:m xmlns:a14="http://schemas.microsoft.com/office/drawing/2010/main" xmlns:m="http://schemas.openxmlformats.org/officeDocument/2006/math">
              <m:oMathPara>
                <m:oMathParaPr>
                  <m:jc m:val="left"/>
                </m:oMathParaPr>
                <m:oMath>
                  <m:sSub>
                    <m:e>
                      <m:r>
                        <m:rPr>
                          <m:sty m:val="p"/>
                        </m:rPr>
                        <a:rPr lang="en-US" sz="2600">
                          <a:latin typeface="Cambria Math"/>
                        </a:rPr>
                        <m:t xml:space="preserve">T</m:t>
                      </m:r>
                    </m:e>
                    <m:sub>
                      <m:r>
                        <m:rPr>
                          <m:sty m:val="p"/>
                        </m:rPr>
                        <a:rPr lang="en-US" sz="2600">
                          <a:latin typeface="Cambria Math"/>
                        </a:rPr>
                        <m:t xml:space="preserve">m</m:t>
                      </m:r>
                    </m:sub>
                  </m:sSub>
                  <m:r>
                    <m:rPr>
                      <m:sty m:val="p"/>
                    </m:rPr>
                    <a:rPr lang="en-US" sz="2600">
                      <a:latin typeface="Cambria Math"/>
                    </a:rPr>
                    <m:t xml:space="preserve"> &gt; </m:t>
                  </m:r>
                  <m:sSub>
                    <m:e>
                      <m:r>
                        <m:rPr>
                          <m:sty m:val="p"/>
                        </m:rPr>
                        <a:rPr lang="en-US" sz="2600">
                          <a:latin typeface="Cambria Math"/>
                        </a:rPr>
                        <m:t xml:space="preserve">T</m:t>
                      </m:r>
                    </m:e>
                    <m:sub>
                      <m:r>
                        <m:rPr>
                          <m:sty m:val="p"/>
                        </m:rPr>
                        <a:rPr lang="en-US" sz="2600">
                          <a:latin typeface="Cambria Math"/>
                        </a:rPr>
                        <m:t xml:space="preserve">r</m:t>
                      </m:r>
                    </m:sub>
                  </m:sSub>
                  <m:r>
                    <m:rPr>
                      <m:sty m:val="p"/>
                    </m:rPr>
                    <a:rPr lang="en-US" sz="2600">
                      <a:latin typeface="Cambria Math"/>
                    </a:rPr>
                    <m:t xml:space="preserve">  ⇒  </m:t>
                  </m:r>
                  <m:sSub>
                    <m:e>
                      <m:r>
                        <m:rPr>
                          <m:sty m:val="p"/>
                        </m:rPr>
                        <a:rPr lang="en-US" sz="2600">
                          <a:latin typeface="Cambria Math"/>
                        </a:rPr>
                        <m:t xml:space="preserve">V</m:t>
                      </m:r>
                    </m:e>
                    <m:sub>
                      <m:r>
                        <m:rPr>
                          <m:sty m:val="p"/>
                        </m:rPr>
                        <a:rPr lang="en-US" sz="2600">
                          <a:latin typeface="Cambria Math"/>
                        </a:rPr>
                        <m:t xml:space="preserve">constraint</m:t>
                      </m:r>
                    </m:sub>
                  </m:sSub>
                  <m:r>
                    <m:rPr>
                      <m:sty m:val="p"/>
                    </m:rPr>
                    <a:rPr lang="en-US" sz="2600">
                      <a:latin typeface="Cambria Math"/>
                    </a:rPr>
                    <m:t xml:space="preserve"> = 1,    </m:t>
                  </m:r>
                  <m:sSub>
                    <m:e>
                      <m:r>
                        <m:rPr>
                          <m:sty m:val="p"/>
                        </m:rPr>
                        <a:rPr lang="en-US" sz="2600">
                          <a:latin typeface="Cambria Math"/>
                        </a:rPr>
                        <m:t xml:space="preserve">S</m:t>
                      </m:r>
                    </m:e>
                    <m:sub>
                      <m:r>
                        <m:rPr>
                          <m:sty m:val="p"/>
                        </m:rPr>
                        <a:rPr lang="en-US" sz="2600">
                          <a:latin typeface="Cambria Math"/>
                        </a:rPr>
                        <m:t xml:space="preserve">constraint</m:t>
                      </m:r>
                    </m:sub>
                  </m:sSub>
                  <m:r>
                    <m:rPr>
                      <m:sty m:val="p"/>
                    </m:rPr>
                    <a:rPr lang="en-US" sz="2600">
                      <a:latin typeface="Cambria Math"/>
                    </a:rPr>
                    <m:t xml:space="preserve"> = 1</m:t>
                  </m:r>
                </m:oMath>
              </m:oMathPara>
            </a14:m>
            <a:endParaRPr lang="en-US" sz="2600"/>
          </a:p>
        </p:txBody>
      </p:sp>
      <p:sp>
        <p:nvSpPr>
          <p:cNvPr id="7" name="">
            <a:extLst>
              <a:ext uri="{FF2B5EF4-FFF2-40B4-BE49-F238E27FC236}">
                <a16:creationId xmlns:a16="http://schemas.microsoft.com/office/drawing/2014/main" id="{10D97308-6B8E-4721-9972-266BB149AD44}"/>
              </a:ext>
            </a:extLst>
          </p:cNvPr>
          <p:cNvSpPr>
            <a:spLocks noGrp="1"/>
          </p:cNvSpPr>
          <p:nvPr/>
        </p:nvSpPr>
        <p:spPr>
          <a:xfrm>
            <a:off x="428625" y="483870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仅在动作绑定与适用范围成立、时间单位可归一化时使用；当前支持明确时间上界。</a:t>
            </a:r>
          </a:p>
        </p:txBody>
      </p:sp>
      <p:sp>
        <p:nvSpPr>
          <p:cNvPr id="8" name="">
            <a:extLst>
              <a:ext uri="{FF2B5EF4-FFF2-40B4-BE49-F238E27FC236}">
                <a16:creationId xmlns:a16="http://schemas.microsoft.com/office/drawing/2014/main" id="{496573A6-B55A-492E-809D-73871776819C}"/>
              </a:ext>
            </a:extLst>
          </p:cNvPr>
          <p:cNvSpPr>
            <a:spLocks noGrp="1"/>
          </p:cNvSpPr>
          <p:nvPr/>
        </p:nvSpPr>
        <p:spPr>
          <a:xfrm>
            <a:off x="428625" y="5200650"/>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示例：法规 T</a:t>
            </a:r>
            <a:r>
              <a:rPr sz="1188" b="0" baseline="-22000">
                <a:solidFill>
                  <a:srgbClr val="111111"/>
                </a:solidFill>
                <a:latin typeface="微软雅黑"/>
                <a:ea typeface="微软雅黑"/>
                <a:cs typeface="微软雅黑"/>
              </a:rPr>
              <a:t>r</a:t>
            </a:r>
            <a:r>
              <a:rPr sz="1650" b="0">
                <a:solidFill>
                  <a:srgbClr val="111111"/>
                </a:solidFill>
                <a:latin typeface="微软雅黑"/>
                <a:ea typeface="微软雅黑"/>
                <a:cs typeface="微软雅黑"/>
              </a:rPr>
              <a:t> = 72 h，流程绑定限制 T</a:t>
            </a:r>
            <a:r>
              <a:rPr sz="1188" b="0" baseline="-22000">
                <a:solidFill>
                  <a:srgbClr val="111111"/>
                </a:solidFill>
                <a:latin typeface="微软雅黑"/>
                <a:ea typeface="微软雅黑"/>
                <a:cs typeface="微软雅黑"/>
              </a:rPr>
              <a:t>m</a:t>
            </a:r>
            <a:r>
              <a:rPr sz="1650" b="0">
                <a:solidFill>
                  <a:srgbClr val="111111"/>
                </a:solidFill>
                <a:latin typeface="微软雅黑"/>
                <a:ea typeface="微软雅黑"/>
                <a:cs typeface="微软雅黑"/>
              </a:rPr>
              <a:t> = 96 h，则 96 &gt; 72，约束分数设为 1。</a:t>
            </a:r>
          </a:p>
        </p:txBody>
      </p:sp>
      <p:sp>
        <p:nvSpPr>
          <p:cNvPr id="9" name="">
            <a:extLst>
              <a:ext uri="{FF2B5EF4-FFF2-40B4-BE49-F238E27FC236}">
                <a16:creationId xmlns:a16="http://schemas.microsoft.com/office/drawing/2014/main" id="{ECC896D0-9D97-48AA-97D4-08A2CAFA516E}"/>
              </a:ext>
            </a:extLst>
          </p:cNvPr>
          <p:cNvSpPr>
            <a:spLocks noGrp="1"/>
          </p:cNvSpPr>
          <p:nvPr/>
        </p:nvSpPr>
        <p:spPr>
          <a:xfrm>
            <a:off x="428625" y="5686425"/>
            <a:ext cx="11239500" cy="381000"/>
          </a:xfrm>
          <a:prstGeom prst="rect">
            <a:avLst/>
          </a:prstGeom>
          <a:noFill/>
          <a:ln w="0">
            <a:noFill/>
          </a:ln>
        </p:spPr>
        <p:txBody>
          <a:bodyPr anchor="ctr">
            <a:noAutofit/>
          </a:bodyPr>
          <a:lstStyle/>
          <a:p>
            <a:pPr>
              <a:defRPr sz="1650" b="0">
                <a:solidFill>
                  <a:srgbClr val="111111"/>
                </a:solidFill>
                <a:latin typeface="微软雅黑"/>
                <a:ea typeface="微软雅黑"/>
                <a:cs typeface="微软雅黑"/>
              </a:defRPr>
            </a:pPr>
            <a:r>
              <a:rPr sz="1650" b="0">
                <a:solidFill>
                  <a:srgbClr val="111111"/>
                </a:solidFill>
                <a:latin typeface="微软雅黑"/>
                <a:ea typeface="微软雅黑"/>
                <a:cs typeface="微软雅黑"/>
              </a:rPr>
              <a:t>可观察性边界：没有候选证据 ≠ 已证实违规；未触发检查也不能证明整个流程合规。</a:t>
            </a:r>
          </a:p>
        </p:txBody>
      </p:sp>
      <p:sp>
        <p:nvSpPr>
          <p:cNvPr id="10" name="">
            <a:extLst>
              <a:ext uri="{FF2B5EF4-FFF2-40B4-BE49-F238E27FC236}">
                <a16:creationId xmlns:a16="http://schemas.microsoft.com/office/drawing/2014/main" id="{B8FBB423-7FF1-4BCB-844B-E339AF0C9EC7}"/>
              </a:ext>
            </a:extLst>
          </p:cNvPr>
          <p:cNvSpPr>
            <a:spLocks noGrp="1"/>
          </p:cNvSpPr>
          <p:nvPr/>
        </p:nvSpPr>
        <p:spPr>
          <a:xfrm>
            <a:off x="428625" y="6067425"/>
            <a:ext cx="11239500" cy="381000"/>
          </a:xfrm>
          <a:prstGeom prst="rect">
            <a:avLst/>
          </a:prstGeom>
          <a:noFill/>
          <a:ln w="0">
            <a:noFill/>
          </a:ln>
        </p:spPr>
        <p:txBody>
          <a:bodyPr anchor="ctr">
            <a:noAutofit/>
          </a:bodyPr>
          <a:lstStyle/>
          <a:p>
            <a:pPr>
              <a:defRPr sz="1500" b="0">
                <a:solidFill>
                  <a:srgbClr val="111111"/>
                </a:solidFill>
                <a:latin typeface="微软雅黑"/>
                <a:ea typeface="微软雅黑"/>
                <a:cs typeface="微软雅黑"/>
              </a:defRPr>
            </a:pPr>
            <a:r>
              <a:rPr sz="1500" b="0">
                <a:solidFill>
                  <a:srgbClr val="111111"/>
                </a:solidFill>
                <a:latin typeface="微软雅黑"/>
                <a:ea typeface="微软雅黑"/>
                <a:cs typeface="微软雅黑"/>
              </a:rPr>
              <a:t>条件／例外检查衡量 BPMN 可见证据的相似度覆盖，尚不能替代完整路径语义验证。</a:t>
            </a:r>
          </a:p>
        </p:txBody>
      </p:sp>
    </p:spTree>
  </p:cSld>
  <p:clrMapOvr>
    <a:masterClrMapping/>
  </p:clrMapOvr>
  <p:transition advClick="0"/>
</p:sld>
</file>

<file path=ppt/tags/tag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5.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6.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7.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8.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9.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0.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5.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6.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7.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8.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19.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0.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1.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2.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3.xml><?xml version="1.0" encoding="utf-8"?>
<p:tagLst xmlns:p="http://schemas.openxmlformats.org/presentationml/2006/main">
  <p:tag name="KSO_WM_DIAGRAM_VIRTUALLY_FRAME" val="{&quot;height&quot;:419.5279527559055,&quot;left&quot;:339.9886614173228,&quot;top&quot;:68.28433070866141,&quot;width&quot;:507.6813385826772}"/>
</p:tagLst>
</file>

<file path=ppt/tags/tag24.xml><?xml version="1.0" encoding="utf-8"?>
<p:tagLst xmlns:p="http://schemas.openxmlformats.org/presentationml/2006/main">
  <p:tag name="KSO_WM_DIAGRAM_VIRTUALLY_FRAME" val="{&quot;height&quot;:419.5279527559055,&quot;left&quot;:339.9886614173228,&quot;top&quot;:68.28433070866141,&quot;width&quot;:507.681338582677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Light"/>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2910</Words>
  <Application>WPS 演示</Application>
  <PresentationFormat/>
  <Paragraphs>208</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微软雅黑</vt:lpstr>
      <vt:lpstr>仿宋</vt:lpstr>
      <vt:lpstr>Times New Roman</vt:lpstr>
      <vt:lpstr>-apple-system</vt:lpstr>
      <vt:lpstr>微软雅黑 Light</vt:lpstr>
      <vt:lpstr>Arial Unicode MS</vt:lpstr>
      <vt:lpstr>等线</vt:lpstr>
      <vt:lpstr>Segoe Print</vt:lpstr>
      <vt:lpstr>Office 主题​​</vt:lpstr>
      <vt:lpstr>PowerPoint 演示文稿</vt:lpstr>
      <vt:lpstr>PowerPoint 演示文稿</vt:lpstr>
      <vt:lpstr>背景与动机</vt:lpstr>
      <vt:lpstr>背景与动机</vt:lpstr>
      <vt:lpstr>PowerPoint 演示文稿</vt:lpstr>
      <vt:lpstr>方法-总览</vt:lpstr>
      <vt:lpstr>方法-Stage 1：Process Model Disassembly</vt:lpstr>
      <vt:lpstr>方法-Stage 2 总览: Direct-LLM Regulatory Parsing</vt:lpstr>
      <vt:lpstr>方法-Stage 2.1：Prompt Assembly</vt:lpstr>
      <vt:lpstr>方法-Stage 2.2：LLM Semantic Parsing</vt:lpstr>
      <vt:lpstr>方法-Stage 2.3：Grounding &amp; Canonicalization</vt:lpstr>
      <vt:lpstr>方法-Stage 3.1：Original Violation Detection</vt:lpstr>
      <vt:lpstr>方法-Stage 3.2：Extended Multi-type Violation Detection</vt:lpstr>
      <vt:lpstr>PowerPoint 演示文稿</vt:lpstr>
      <vt:lpstr>实验</vt:lpstr>
      <vt:lpstr>PowerPoint 演示文稿</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WPS_1789020518</cp:lastModifiedBy>
  <cp:revision>71</cp:revision>
  <dcterms:created xsi:type="dcterms:W3CDTF">2025-12-23T06:57:00Z</dcterms:created>
  <dcterms:modified xsi:type="dcterms:W3CDTF">2026-09-10T06:45:01Z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2052-12.1.0.28485</vt:lpwstr>
  </property>
  <property fmtid="{D5CDD505-2E9C-101B-9397-08002B2CF9AE}" pid="3" name="ICV">
    <vt:lpwstr>0743A3943AD34EA3ADECDD03EE60C431_12</vt:lpwstr>
  </property>
</Properties>
</file>